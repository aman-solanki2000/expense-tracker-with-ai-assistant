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D3FF"/>
    <a:srgbClr val="A864F2"/>
    <a:srgbClr val="2563EB"/>
    <a:srgbClr val="9333EA"/>
    <a:srgbClr val="6D28D9"/>
    <a:srgbClr val="6A11CB"/>
    <a:srgbClr val="2575FC"/>
    <a:srgbClr val="8E2DE2"/>
    <a:srgbClr val="A855F7"/>
    <a:srgbClr val="9448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897" autoAdjust="0"/>
    <p:restoredTop sz="95033" autoAdjust="0"/>
  </p:normalViewPr>
  <p:slideViewPr>
    <p:cSldViewPr snapToGrid="0">
      <p:cViewPr varScale="1">
        <p:scale>
          <a:sx n="48" d="100"/>
          <a:sy n="48" d="100"/>
        </p:scale>
        <p:origin x="1186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olanki" userId="bf5e5cf23ac4359f" providerId="LiveId" clId="{DEF643D0-44C1-47DA-84BB-05D2229AA84F}"/>
    <pc:docChg chg="undo redo custSel addSld delSld modSld">
      <pc:chgData name="Aman Solanki" userId="bf5e5cf23ac4359f" providerId="LiveId" clId="{DEF643D0-44C1-47DA-84BB-05D2229AA84F}" dt="2026-06-13T14:39:29.573" v="8417" actId="1036"/>
      <pc:docMkLst>
        <pc:docMk/>
      </pc:docMkLst>
      <pc:sldChg chg="addSp delSp modSp mod">
        <pc:chgData name="Aman Solanki" userId="bf5e5cf23ac4359f" providerId="LiveId" clId="{DEF643D0-44C1-47DA-84BB-05D2229AA84F}" dt="2026-06-13T14:39:29.573" v="8417" actId="1036"/>
        <pc:sldMkLst>
          <pc:docMk/>
          <pc:sldMk cId="1585846333" sldId="259"/>
        </pc:sldMkLst>
        <pc:picChg chg="mod">
          <ac:chgData name="Aman Solanki" userId="bf5e5cf23ac4359f" providerId="LiveId" clId="{DEF643D0-44C1-47DA-84BB-05D2229AA84F}" dt="2026-06-13T14:39:29.573" v="8417" actId="1036"/>
          <ac:picMkLst>
            <pc:docMk/>
            <pc:sldMk cId="1585846333" sldId="259"/>
            <ac:picMk id="11" creationId="{0E89F737-F149-ED69-0E8D-73FB4C2D2B9B}"/>
          </ac:picMkLst>
        </pc:picChg>
        <pc:picChg chg="add mod">
          <ac:chgData name="Aman Solanki" userId="bf5e5cf23ac4359f" providerId="LiveId" clId="{DEF643D0-44C1-47DA-84BB-05D2229AA84F}" dt="2026-06-13T14:39:26.405" v="8415" actId="1038"/>
          <ac:picMkLst>
            <pc:docMk/>
            <pc:sldMk cId="1585846333" sldId="259"/>
            <ac:picMk id="14" creationId="{964E4E8E-266D-2313-5A66-AC183DBA06C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924ECB-1F8C-49AF-BE8A-981B2485784A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61351-B879-4FD3-97D0-A45D3B4016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0166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61351-B879-4FD3-97D0-A45D3B4016DD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916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61351-B879-4FD3-97D0-A45D3B4016DD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440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BF10CC0-CF72-4D5D-BD63-30A1F9E98992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100A-6432-496E-92C5-8D784ACCB48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97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0CC0-CF72-4D5D-BD63-30A1F9E98992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100A-6432-496E-92C5-8D784ACC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383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0CC0-CF72-4D5D-BD63-30A1F9E98992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100A-6432-496E-92C5-8D784ACCB48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357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0CC0-CF72-4D5D-BD63-30A1F9E98992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100A-6432-496E-92C5-8D784ACC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56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0CC0-CF72-4D5D-BD63-30A1F9E98992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100A-6432-496E-92C5-8D784ACC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67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0CC0-CF72-4D5D-BD63-30A1F9E98992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100A-6432-496E-92C5-8D784ACC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435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0CC0-CF72-4D5D-BD63-30A1F9E98992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100A-6432-496E-92C5-8D784ACC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44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0CC0-CF72-4D5D-BD63-30A1F9E98992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100A-6432-496E-92C5-8D784ACC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29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0CC0-CF72-4D5D-BD63-30A1F9E98992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100A-6432-496E-92C5-8D784ACCB48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821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0CC0-CF72-4D5D-BD63-30A1F9E98992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100A-6432-496E-92C5-8D784ACCB4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438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0CC0-CF72-4D5D-BD63-30A1F9E98992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4100A-6432-496E-92C5-8D784ACCB484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6203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2575FC"/>
            </a:gs>
            <a:gs pos="0">
              <a:srgbClr val="8E2DE2"/>
            </a:gs>
            <a:gs pos="50000">
              <a:srgbClr val="6A11CB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BF10CC0-CF72-4D5D-BD63-30A1F9E98992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EE4100A-6432-496E-92C5-8D784ACCB484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58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93D28D6-E685-9E6B-E1EA-DD695DE9CAFA}"/>
              </a:ext>
            </a:extLst>
          </p:cNvPr>
          <p:cNvSpPr/>
          <p:nvPr/>
        </p:nvSpPr>
        <p:spPr>
          <a:xfrm>
            <a:off x="5483321" y="0"/>
            <a:ext cx="6708679" cy="6744208"/>
          </a:xfrm>
          <a:prstGeom prst="ellipse">
            <a:avLst/>
          </a:prstGeom>
          <a:solidFill>
            <a:srgbClr val="8E2DE2">
              <a:alpha val="40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6D73502-B0D8-17E3-0CE0-082997441797}"/>
              </a:ext>
            </a:extLst>
          </p:cNvPr>
          <p:cNvSpPr/>
          <p:nvPr/>
        </p:nvSpPr>
        <p:spPr>
          <a:xfrm>
            <a:off x="899675" y="2894314"/>
            <a:ext cx="3133992" cy="709757"/>
          </a:xfrm>
          <a:prstGeom prst="roundRect">
            <a:avLst/>
          </a:prstGeom>
          <a:solidFill>
            <a:srgbClr val="6A11C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egoe UI "/>
                <a:cs typeface="Segoe UI Bold" panose="020B0802040204020203" pitchFamily="34" charset="0"/>
              </a:rPr>
              <a:t>PYTHON PROJECT</a:t>
            </a:r>
            <a:endParaRPr lang="en-IN" dirty="0">
              <a:latin typeface="Segoe UI "/>
              <a:cs typeface="Segoe UI Bold" panose="020B08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E67DFA-3926-9793-F51E-3F162D9F9493}"/>
              </a:ext>
            </a:extLst>
          </p:cNvPr>
          <p:cNvSpPr txBox="1"/>
          <p:nvPr/>
        </p:nvSpPr>
        <p:spPr>
          <a:xfrm>
            <a:off x="637500" y="4719008"/>
            <a:ext cx="4416957" cy="19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Name  : Aman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Course : Python Programming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chemeClr val="bg1"/>
                </a:solidFill>
              </a:rPr>
              <a:t>Project : Expense Tracker  </a:t>
            </a: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D84E6F-2A14-DA45-2028-597F5EDEA17D}"/>
              </a:ext>
            </a:extLst>
          </p:cNvPr>
          <p:cNvSpPr txBox="1"/>
          <p:nvPr/>
        </p:nvSpPr>
        <p:spPr>
          <a:xfrm>
            <a:off x="773840" y="551994"/>
            <a:ext cx="5657643" cy="2610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Bold"/>
                <a:cs typeface="Segoe UI Bold" panose="020B0802040204020203" pitchFamily="34" charset="0"/>
              </a:rPr>
              <a:t>EXPENSE</a:t>
            </a:r>
          </a:p>
          <a:p>
            <a:pPr>
              <a:spcBef>
                <a:spcPts val="50"/>
              </a:spcBef>
            </a:pPr>
            <a:r>
              <a:rPr lang="en-US" sz="5400" b="1" dirty="0">
                <a:solidFill>
                  <a:schemeClr val="bg1"/>
                </a:solidFill>
                <a:latin typeface="Bold"/>
                <a:cs typeface="Segoe UI Bold" panose="020B0802040204020203" pitchFamily="34" charset="0"/>
              </a:rPr>
              <a:t>TRACKER</a:t>
            </a:r>
          </a:p>
          <a:p>
            <a:pPr>
              <a:spcBef>
                <a:spcPts val="50"/>
              </a:spcBef>
            </a:pPr>
            <a:r>
              <a:rPr lang="en-US" sz="3600" b="1" dirty="0">
                <a:solidFill>
                  <a:schemeClr val="bg1"/>
                </a:solidFill>
                <a:latin typeface="Bold"/>
                <a:cs typeface="Segoe UI Bold" panose="020B0802040204020203" pitchFamily="34" charset="0"/>
              </a:rPr>
              <a:t>WITH AI ASSISTANT</a:t>
            </a:r>
            <a:endParaRPr lang="en-IN" sz="3600" b="1" dirty="0">
              <a:solidFill>
                <a:schemeClr val="bg1"/>
              </a:solidFill>
              <a:latin typeface="Bold"/>
              <a:cs typeface="Segoe UI Bold" panose="020B0802040204020203" pitchFamily="34" charset="0"/>
            </a:endParaRP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ACF148B-DBA5-1B1C-2F48-429A1D991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368" y="725128"/>
            <a:ext cx="3686584" cy="48756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35352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95800">
              <a:srgbClr val="2B6DF8"/>
            </a:gs>
            <a:gs pos="97000">
              <a:srgbClr val="2575FC"/>
            </a:gs>
            <a:gs pos="0">
              <a:srgbClr val="8E2DE2"/>
            </a:gs>
            <a:gs pos="50000">
              <a:srgbClr val="6A11CB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943A-2BB1-C83E-53A9-18B4334CD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298" y="369446"/>
            <a:ext cx="9720262" cy="14986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Montserrat Bold" panose="00000800000000000000" pitchFamily="2" charset="0"/>
              </a:rPr>
              <a:t>PROBLEM </a:t>
            </a:r>
            <a:r>
              <a:rPr lang="en-US" sz="3600" b="1" dirty="0">
                <a:solidFill>
                  <a:srgbClr val="C9B6FF"/>
                </a:solidFill>
                <a:latin typeface="Montserrat Bold" panose="00000800000000000000" pitchFamily="2" charset="0"/>
              </a:rPr>
              <a:t>STATEMENT</a:t>
            </a:r>
            <a:endParaRPr lang="en-IN" sz="3600" b="1" dirty="0">
              <a:solidFill>
                <a:srgbClr val="C9B6FF"/>
              </a:solidFill>
              <a:latin typeface="Montserrat Bold" panose="00000800000000000000" pitchFamily="2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E49AA32-934A-DF6D-759D-16FAE65C2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16" y="3241251"/>
            <a:ext cx="4431322" cy="2760963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Many people find it difficult to track their daily expenses and analyze their spending habits. There is a need for a simple application that can record expenses, generate reports, and provide smart AI-based suggestions.</a:t>
            </a:r>
            <a:endParaRPr lang="en-IN" sz="20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2CEE22-8C37-2DAB-63B5-B3A2C3F18F9A}"/>
              </a:ext>
            </a:extLst>
          </p:cNvPr>
          <p:cNvSpPr/>
          <p:nvPr/>
        </p:nvSpPr>
        <p:spPr>
          <a:xfrm>
            <a:off x="6322646" y="1118746"/>
            <a:ext cx="5369169" cy="5384800"/>
          </a:xfrm>
          <a:prstGeom prst="ellipse">
            <a:avLst/>
          </a:prstGeom>
          <a:solidFill>
            <a:srgbClr val="8E2DE2">
              <a:alpha val="40000"/>
            </a:srgbClr>
          </a:solidFill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E8A389-AB4A-7A50-19FD-61792091C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904" y="1518479"/>
            <a:ext cx="4621158" cy="4585335"/>
          </a:xfrm>
          <a:prstGeom prst="ellipse">
            <a:avLst/>
          </a:prstGeom>
          <a:ln w="63500" cap="rnd"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C45A74C-199A-41DE-BF79-54B8BA182C3E}"/>
              </a:ext>
            </a:extLst>
          </p:cNvPr>
          <p:cNvCxnSpPr>
            <a:cxnSpLocks/>
          </p:cNvCxnSpPr>
          <p:nvPr/>
        </p:nvCxnSpPr>
        <p:spPr>
          <a:xfrm>
            <a:off x="311705" y="1317356"/>
            <a:ext cx="5784295" cy="0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570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A451C-4E25-61C7-B2C3-B66080F61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745" y="250000"/>
            <a:ext cx="3749516" cy="678386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Montserrat Bold" panose="00000800000000000000" pitchFamily="2" charset="0"/>
              </a:rPr>
              <a:t>OBJECTIVES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89F737-F149-ED69-0E8D-73FB4C2D2B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360" y="1682645"/>
            <a:ext cx="5506313" cy="47536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8E9C6E9-B20F-DE5A-A56F-E18D52F5A8EA}"/>
              </a:ext>
            </a:extLst>
          </p:cNvPr>
          <p:cNvSpPr/>
          <p:nvPr/>
        </p:nvSpPr>
        <p:spPr>
          <a:xfrm>
            <a:off x="190185" y="1960652"/>
            <a:ext cx="4897376" cy="472368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 Track daily expenses</a:t>
            </a:r>
            <a:endParaRPr lang="en-IN" sz="16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CC6D33-27D8-7ED3-90E3-3C2348263176}"/>
              </a:ext>
            </a:extLst>
          </p:cNvPr>
          <p:cNvSpPr/>
          <p:nvPr/>
        </p:nvSpPr>
        <p:spPr>
          <a:xfrm>
            <a:off x="190185" y="2823732"/>
            <a:ext cx="4897377" cy="472368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 Store data safely</a:t>
            </a:r>
            <a:endParaRPr lang="en-IN" sz="16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0003DC4-A115-B3F7-0001-A2DC079338AC}"/>
              </a:ext>
            </a:extLst>
          </p:cNvPr>
          <p:cNvSpPr/>
          <p:nvPr/>
        </p:nvSpPr>
        <p:spPr>
          <a:xfrm>
            <a:off x="190183" y="3692863"/>
            <a:ext cx="4897378" cy="472368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 Generate category-wise reports</a:t>
            </a:r>
            <a:endParaRPr lang="en-IN" sz="16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8824239-5D33-974D-7836-591FFD5B0DBF}"/>
              </a:ext>
            </a:extLst>
          </p:cNvPr>
          <p:cNvSpPr/>
          <p:nvPr/>
        </p:nvSpPr>
        <p:spPr>
          <a:xfrm>
            <a:off x="190183" y="4569067"/>
            <a:ext cx="4897379" cy="576865"/>
          </a:xfrm>
          <a:prstGeom prst="roundRect">
            <a:avLst>
              <a:gd name="adj" fmla="val 22496"/>
            </a:avLst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          provide AI-based financial suggestions.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964E4E8E-266D-2313-5A66-AC183DBA06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911" y="2018703"/>
            <a:ext cx="335749" cy="335749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DF2A509A-6796-A281-93A3-7B736B7BCE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869" y="2863780"/>
            <a:ext cx="335749" cy="33574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659458B-D843-0722-522D-BC3AF7BAE2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868" y="3761172"/>
            <a:ext cx="335749" cy="335749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2F04BF76-9744-8391-8FBE-E670CF862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868" y="4711673"/>
            <a:ext cx="335749" cy="335749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5AC202-A68A-7F22-041D-587970D9384C}"/>
              </a:ext>
            </a:extLst>
          </p:cNvPr>
          <p:cNvCxnSpPr>
            <a:cxnSpLocks/>
          </p:cNvCxnSpPr>
          <p:nvPr/>
        </p:nvCxnSpPr>
        <p:spPr>
          <a:xfrm>
            <a:off x="491745" y="766323"/>
            <a:ext cx="3749516" cy="0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5846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F9101-AC3D-4B61-EAFE-5E8533304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135866"/>
            <a:ext cx="3361447" cy="934720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Montserrat Bold" panose="00000800000000000000" pitchFamily="2" charset="0"/>
              </a:rPr>
              <a:t>FEATURES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D31E52-2A5C-C057-ED91-1CB84EEC6962}"/>
              </a:ext>
            </a:extLst>
          </p:cNvPr>
          <p:cNvSpPr/>
          <p:nvPr/>
        </p:nvSpPr>
        <p:spPr>
          <a:xfrm>
            <a:off x="558800" y="1428588"/>
            <a:ext cx="3840480" cy="629920"/>
          </a:xfrm>
          <a:prstGeom prst="roundRect">
            <a:avLst/>
          </a:prstGeom>
          <a:solidFill>
            <a:srgbClr val="C9B6FF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Add Expenses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86E18B-4B38-475D-4DE7-3C82DE7A68DE}"/>
              </a:ext>
            </a:extLst>
          </p:cNvPr>
          <p:cNvSpPr/>
          <p:nvPr/>
        </p:nvSpPr>
        <p:spPr>
          <a:xfrm>
            <a:off x="558800" y="2467956"/>
            <a:ext cx="3840480" cy="629920"/>
          </a:xfrm>
          <a:prstGeom prst="roundRect">
            <a:avLst/>
          </a:prstGeom>
          <a:solidFill>
            <a:srgbClr val="C9B6FF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View Expenses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48F75F1-37FB-0062-DAAD-DB42788C54A3}"/>
              </a:ext>
            </a:extLst>
          </p:cNvPr>
          <p:cNvSpPr/>
          <p:nvPr/>
        </p:nvSpPr>
        <p:spPr>
          <a:xfrm>
            <a:off x="558800" y="3555584"/>
            <a:ext cx="3840480" cy="629920"/>
          </a:xfrm>
          <a:prstGeom prst="roundRect">
            <a:avLst/>
          </a:prstGeom>
          <a:solidFill>
            <a:srgbClr val="C9B6FF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Category Report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A192B2-EC7F-29C1-E29B-3DE0A8B9DCFC}"/>
              </a:ext>
            </a:extLst>
          </p:cNvPr>
          <p:cNvSpPr/>
          <p:nvPr/>
        </p:nvSpPr>
        <p:spPr>
          <a:xfrm>
            <a:off x="558800" y="4704588"/>
            <a:ext cx="3840480" cy="629920"/>
          </a:xfrm>
          <a:prstGeom prst="roundRect">
            <a:avLst/>
          </a:prstGeom>
          <a:solidFill>
            <a:srgbClr val="C9B6FF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AI Suggestion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1AD0F93-216F-D9EF-10B1-575EA04DDF5A}"/>
              </a:ext>
            </a:extLst>
          </p:cNvPr>
          <p:cNvSpPr/>
          <p:nvPr/>
        </p:nvSpPr>
        <p:spPr>
          <a:xfrm>
            <a:off x="558800" y="5842000"/>
            <a:ext cx="3840480" cy="629920"/>
          </a:xfrm>
          <a:prstGeom prst="roundRect">
            <a:avLst/>
          </a:prstGeom>
          <a:solidFill>
            <a:srgbClr val="C9B6FF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Auto Save to CSV File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3" name="Graphic 12" descr="Dollar with solid fill">
            <a:extLst>
              <a:ext uri="{FF2B5EF4-FFF2-40B4-BE49-F238E27FC236}">
                <a16:creationId xmlns:a16="http://schemas.microsoft.com/office/drawing/2014/main" id="{8525CCEA-89A3-2906-64EA-DB1132F32A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800" y="1492734"/>
            <a:ext cx="488604" cy="488604"/>
          </a:xfrm>
          <a:prstGeom prst="rect">
            <a:avLst/>
          </a:prstGeom>
        </p:spPr>
      </p:pic>
      <p:pic>
        <p:nvPicPr>
          <p:cNvPr id="15" name="Graphic 14" descr="Document with solid fill">
            <a:extLst>
              <a:ext uri="{FF2B5EF4-FFF2-40B4-BE49-F238E27FC236}">
                <a16:creationId xmlns:a16="http://schemas.microsoft.com/office/drawing/2014/main" id="{72248C4E-BF5D-C673-A705-0812C54FCA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00" y="3520024"/>
            <a:ext cx="701040" cy="701040"/>
          </a:xfrm>
          <a:prstGeom prst="rect">
            <a:avLst/>
          </a:prstGeom>
        </p:spPr>
      </p:pic>
      <p:pic>
        <p:nvPicPr>
          <p:cNvPr id="17" name="Graphic 16" descr="Robot with solid fill">
            <a:extLst>
              <a:ext uri="{FF2B5EF4-FFF2-40B4-BE49-F238E27FC236}">
                <a16:creationId xmlns:a16="http://schemas.microsoft.com/office/drawing/2014/main" id="{143B094C-D553-B703-976B-33F5F14846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4040" y="4770906"/>
            <a:ext cx="594360" cy="594360"/>
          </a:xfrm>
          <a:prstGeom prst="rect">
            <a:avLst/>
          </a:prstGeom>
        </p:spPr>
      </p:pic>
      <p:pic>
        <p:nvPicPr>
          <p:cNvPr id="19" name="Graphic 18" descr="Theatre with solid fill">
            <a:extLst>
              <a:ext uri="{FF2B5EF4-FFF2-40B4-BE49-F238E27FC236}">
                <a16:creationId xmlns:a16="http://schemas.microsoft.com/office/drawing/2014/main" id="{15FD54CE-CB19-53F7-6F57-27F7BA59CE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" y="2467956"/>
            <a:ext cx="767080" cy="6299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C1FE834-07E9-73BF-C007-355C089BE6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570" y="5887563"/>
            <a:ext cx="495300" cy="53879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8EC23F6-3C98-DB36-995B-6886C2A0152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923">
            <a:off x="7110812" y="1492734"/>
            <a:ext cx="4208616" cy="48749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6670FD0-EBD4-9970-8742-0F09F51DC662}"/>
              </a:ext>
            </a:extLst>
          </p:cNvPr>
          <p:cNvCxnSpPr>
            <a:cxnSpLocks/>
          </p:cNvCxnSpPr>
          <p:nvPr/>
        </p:nvCxnSpPr>
        <p:spPr>
          <a:xfrm>
            <a:off x="574040" y="797668"/>
            <a:ext cx="3034922" cy="0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492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D5CA4-ADFC-A327-BCE0-BA10E915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228" y="84067"/>
            <a:ext cx="6355491" cy="89842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Montserrat Bold" panose="00000800000000000000" pitchFamily="2" charset="0"/>
              </a:rPr>
              <a:t>TECHNOLOGIES </a:t>
            </a:r>
            <a:r>
              <a:rPr lang="en-US" sz="4000" dirty="0">
                <a:solidFill>
                  <a:srgbClr val="C9B6FF"/>
                </a:solidFill>
                <a:latin typeface="Montserrat Bold" panose="00000800000000000000" pitchFamily="2" charset="0"/>
              </a:rPr>
              <a:t>USED</a:t>
            </a:r>
            <a:endParaRPr lang="en-IN" sz="4000" dirty="0">
              <a:solidFill>
                <a:srgbClr val="C9B6FF"/>
              </a:solidFill>
              <a:latin typeface="Montserrat Bold" panose="00000800000000000000" pitchFamily="2" charset="0"/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422B2A10-B7E1-9538-9369-E289800FDFF8}"/>
              </a:ext>
            </a:extLst>
          </p:cNvPr>
          <p:cNvSpPr/>
          <p:nvPr/>
        </p:nvSpPr>
        <p:spPr>
          <a:xfrm>
            <a:off x="374223" y="2340709"/>
            <a:ext cx="2123440" cy="207264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E24DDD8C-0593-EA3B-AE32-BEAF9A163675}"/>
              </a:ext>
            </a:extLst>
          </p:cNvPr>
          <p:cNvSpPr/>
          <p:nvPr/>
        </p:nvSpPr>
        <p:spPr>
          <a:xfrm>
            <a:off x="3200722" y="2364344"/>
            <a:ext cx="2123440" cy="207264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FD8C5E63-C1C4-6432-1C21-DE3AC67B73B0}"/>
              </a:ext>
            </a:extLst>
          </p:cNvPr>
          <p:cNvSpPr/>
          <p:nvPr/>
        </p:nvSpPr>
        <p:spPr>
          <a:xfrm>
            <a:off x="6032351" y="2392680"/>
            <a:ext cx="2123440" cy="207264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87923E9F-32C0-46A9-E65D-689A4CA5CE7C}"/>
              </a:ext>
            </a:extLst>
          </p:cNvPr>
          <p:cNvSpPr/>
          <p:nvPr/>
        </p:nvSpPr>
        <p:spPr>
          <a:xfrm>
            <a:off x="8950960" y="2367280"/>
            <a:ext cx="2123440" cy="2072640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69E54C-878C-D4E5-4508-1161D1B65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480" y="2521824"/>
            <a:ext cx="1757680" cy="17576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3F6D11-3EDA-061D-544E-F592EB045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552" y="2462629"/>
            <a:ext cx="1828800" cy="1828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2DA3A82-27C1-85DA-5B6C-FA44B4838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859" y="2577505"/>
            <a:ext cx="1188423" cy="158456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B9DD4DC-B40E-5357-746D-715E638E706D}"/>
              </a:ext>
            </a:extLst>
          </p:cNvPr>
          <p:cNvSpPr txBox="1"/>
          <p:nvPr/>
        </p:nvSpPr>
        <p:spPr>
          <a:xfrm>
            <a:off x="546943" y="4546890"/>
            <a:ext cx="195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Bold"/>
              </a:rPr>
              <a:t>Python</a:t>
            </a:r>
            <a:endParaRPr lang="en-IN" sz="3600" dirty="0">
              <a:solidFill>
                <a:schemeClr val="bg1"/>
              </a:solidFill>
              <a:latin typeface="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F4987E-EB2F-86E6-163F-B0E214B6C631}"/>
              </a:ext>
            </a:extLst>
          </p:cNvPr>
          <p:cNvSpPr txBox="1"/>
          <p:nvPr/>
        </p:nvSpPr>
        <p:spPr>
          <a:xfrm>
            <a:off x="3227053" y="4515172"/>
            <a:ext cx="1991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Bold"/>
              </a:rPr>
              <a:t>Pandas</a:t>
            </a:r>
            <a:endParaRPr lang="en-IN" sz="3600" dirty="0">
              <a:solidFill>
                <a:schemeClr val="bg1"/>
              </a:solidFill>
              <a:latin typeface="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6CC730-680B-7D4F-1E5F-1C9389466E31}"/>
              </a:ext>
            </a:extLst>
          </p:cNvPr>
          <p:cNvSpPr txBox="1"/>
          <p:nvPr/>
        </p:nvSpPr>
        <p:spPr>
          <a:xfrm>
            <a:off x="5876860" y="4515172"/>
            <a:ext cx="24993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Bold"/>
              </a:rPr>
              <a:t>CSV File 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Bold"/>
              </a:rPr>
              <a:t>Handling</a:t>
            </a:r>
            <a:endParaRPr lang="en-IN" sz="3600" dirty="0">
              <a:solidFill>
                <a:schemeClr val="bg1"/>
              </a:solidFill>
              <a:latin typeface="Bold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65092C-436D-6528-2E3D-9729779A1024}"/>
              </a:ext>
            </a:extLst>
          </p:cNvPr>
          <p:cNvSpPr txBox="1"/>
          <p:nvPr/>
        </p:nvSpPr>
        <p:spPr>
          <a:xfrm>
            <a:off x="9083040" y="4593056"/>
            <a:ext cx="2123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  <a:latin typeface="Bold"/>
              </a:rPr>
              <a:t>Groq AI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1C4FC1-0749-2AE4-F7F9-0329A4771386}"/>
              </a:ext>
            </a:extLst>
          </p:cNvPr>
          <p:cNvSpPr/>
          <p:nvPr/>
        </p:nvSpPr>
        <p:spPr>
          <a:xfrm>
            <a:off x="407416" y="6217920"/>
            <a:ext cx="2123440" cy="447040"/>
          </a:xfrm>
          <a:prstGeom prst="roundRect">
            <a:avLst/>
          </a:prstGeom>
          <a:solidFill>
            <a:srgbClr val="C9B6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Programming</a:t>
            </a:r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89EA7E1-BA6F-8197-766E-338E2D835004}"/>
              </a:ext>
            </a:extLst>
          </p:cNvPr>
          <p:cNvSpPr/>
          <p:nvPr/>
        </p:nvSpPr>
        <p:spPr>
          <a:xfrm>
            <a:off x="3261868" y="6211824"/>
            <a:ext cx="2123440" cy="447040"/>
          </a:xfrm>
          <a:prstGeom prst="roundRect">
            <a:avLst/>
          </a:prstGeom>
          <a:solidFill>
            <a:srgbClr val="C9B6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 Analysis</a:t>
            </a:r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D858035-ECB2-827A-2288-D0293EE2C61A}"/>
              </a:ext>
            </a:extLst>
          </p:cNvPr>
          <p:cNvSpPr/>
          <p:nvPr/>
        </p:nvSpPr>
        <p:spPr>
          <a:xfrm>
            <a:off x="6116320" y="6211824"/>
            <a:ext cx="2123440" cy="447040"/>
          </a:xfrm>
          <a:prstGeom prst="roundRect">
            <a:avLst/>
          </a:prstGeom>
          <a:solidFill>
            <a:srgbClr val="C9B6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Storage</a:t>
            </a:r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B400CEF-D871-231B-C1D8-298E7AF6D048}"/>
              </a:ext>
            </a:extLst>
          </p:cNvPr>
          <p:cNvSpPr/>
          <p:nvPr/>
        </p:nvSpPr>
        <p:spPr>
          <a:xfrm>
            <a:off x="9083039" y="6211824"/>
            <a:ext cx="2298323" cy="447040"/>
          </a:xfrm>
          <a:prstGeom prst="roundRect">
            <a:avLst/>
          </a:prstGeom>
          <a:solidFill>
            <a:srgbClr val="C9B6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intelligent suggestions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25CB39-860E-F4B4-45BC-1B892CF07C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439" y="2744836"/>
            <a:ext cx="1444481" cy="131165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1752C4-4309-76C2-ABC2-39C1405401CA}"/>
              </a:ext>
            </a:extLst>
          </p:cNvPr>
          <p:cNvCxnSpPr>
            <a:cxnSpLocks/>
          </p:cNvCxnSpPr>
          <p:nvPr/>
        </p:nvCxnSpPr>
        <p:spPr>
          <a:xfrm>
            <a:off x="291830" y="797668"/>
            <a:ext cx="6361889" cy="0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7098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1C8C-1A43-86BF-2951-F2BB71DC2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95" y="99893"/>
            <a:ext cx="7089094" cy="863145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Montserrat Bold" panose="00000800000000000000" pitchFamily="2" charset="0"/>
              </a:rPr>
              <a:t>PROJECT WORKFLOW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70C63333-ACE8-5750-F9E7-78C61D91DDBB}"/>
              </a:ext>
            </a:extLst>
          </p:cNvPr>
          <p:cNvSpPr/>
          <p:nvPr/>
        </p:nvSpPr>
        <p:spPr>
          <a:xfrm>
            <a:off x="430569" y="2872324"/>
            <a:ext cx="1546352" cy="1359962"/>
          </a:xfrm>
          <a:prstGeom prst="flowChartConnector">
            <a:avLst/>
          </a:prstGeom>
          <a:ln>
            <a:noFill/>
          </a:ln>
          <a:effectLst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B95A09B7-5003-29AC-BC92-51559D630548}"/>
              </a:ext>
            </a:extLst>
          </p:cNvPr>
          <p:cNvSpPr/>
          <p:nvPr/>
        </p:nvSpPr>
        <p:spPr>
          <a:xfrm>
            <a:off x="2863847" y="2872324"/>
            <a:ext cx="1546352" cy="1359962"/>
          </a:xfrm>
          <a:prstGeom prst="flowChartConnector">
            <a:avLst/>
          </a:prstGeom>
          <a:ln>
            <a:noFill/>
          </a:ln>
          <a:effectLst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573F1C56-AAB5-6D6E-10C4-41C947095CCF}"/>
              </a:ext>
            </a:extLst>
          </p:cNvPr>
          <p:cNvSpPr/>
          <p:nvPr/>
        </p:nvSpPr>
        <p:spPr>
          <a:xfrm>
            <a:off x="5137421" y="2854960"/>
            <a:ext cx="1546352" cy="1359962"/>
          </a:xfrm>
          <a:prstGeom prst="flowChartConnector">
            <a:avLst/>
          </a:prstGeom>
          <a:ln>
            <a:noFill/>
          </a:ln>
          <a:effectLst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11B7C93E-4A2D-2B9C-973C-4DF421B99536}"/>
              </a:ext>
            </a:extLst>
          </p:cNvPr>
          <p:cNvSpPr/>
          <p:nvPr/>
        </p:nvSpPr>
        <p:spPr>
          <a:xfrm>
            <a:off x="7397651" y="2872324"/>
            <a:ext cx="1546352" cy="1359962"/>
          </a:xfrm>
          <a:prstGeom prst="flowChartConnector">
            <a:avLst/>
          </a:prstGeom>
          <a:ln>
            <a:noFill/>
          </a:ln>
          <a:effectLst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5157D8BE-7609-2701-72E3-1E5B7D3EB8ED}"/>
              </a:ext>
            </a:extLst>
          </p:cNvPr>
          <p:cNvSpPr/>
          <p:nvPr/>
        </p:nvSpPr>
        <p:spPr>
          <a:xfrm>
            <a:off x="9575235" y="2872324"/>
            <a:ext cx="1546352" cy="1359962"/>
          </a:xfrm>
          <a:prstGeom prst="flowChartConnector">
            <a:avLst/>
          </a:prstGeom>
          <a:ln>
            <a:noFill/>
          </a:ln>
          <a:effectLst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A2B5B3-9ED3-614E-55B6-5A8EC3A82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250" y="3045285"/>
            <a:ext cx="912180" cy="10199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8F1CD0-323D-86C8-91C3-D8BBA4DEA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8949" y="3068295"/>
            <a:ext cx="749951" cy="9999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01FDF18-1BA5-3913-FA29-1CAADEF1E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5798" y="3126803"/>
            <a:ext cx="816273" cy="71250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F0915A8-6FF4-022D-9FC2-58BAB4ABE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6580" y="3071325"/>
            <a:ext cx="923657" cy="99387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75AE488-5750-5D0A-CD31-2BB2447DE7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119" y="3045285"/>
            <a:ext cx="901155" cy="877595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17C2018-0970-0FA5-B55B-AD9361200A3A}"/>
              </a:ext>
            </a:extLst>
          </p:cNvPr>
          <p:cNvSpPr/>
          <p:nvPr/>
        </p:nvSpPr>
        <p:spPr>
          <a:xfrm>
            <a:off x="557886" y="4717574"/>
            <a:ext cx="1426191" cy="402609"/>
          </a:xfrm>
          <a:prstGeom prst="roundRect">
            <a:avLst/>
          </a:prstGeom>
          <a:solidFill>
            <a:srgbClr val="C9B6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Input</a:t>
            </a:r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006936F-6FBA-6ABE-8D25-711754853BDA}"/>
              </a:ext>
            </a:extLst>
          </p:cNvPr>
          <p:cNvSpPr/>
          <p:nvPr/>
        </p:nvSpPr>
        <p:spPr>
          <a:xfrm>
            <a:off x="2863847" y="4717569"/>
            <a:ext cx="1426191" cy="402609"/>
          </a:xfrm>
          <a:prstGeom prst="roundRect">
            <a:avLst/>
          </a:prstGeom>
          <a:solidFill>
            <a:srgbClr val="C9B6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Store</a:t>
            </a:r>
            <a:endParaRPr lang="en-IN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7057251-957D-2665-0CB6-3B8519E70C43}"/>
              </a:ext>
            </a:extLst>
          </p:cNvPr>
          <p:cNvSpPr/>
          <p:nvPr/>
        </p:nvSpPr>
        <p:spPr>
          <a:xfrm>
            <a:off x="5169808" y="4717569"/>
            <a:ext cx="1426191" cy="402609"/>
          </a:xfrm>
          <a:prstGeom prst="roundRect">
            <a:avLst/>
          </a:prstGeom>
          <a:solidFill>
            <a:srgbClr val="C9B6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Save CSV</a:t>
            </a:r>
            <a:endParaRPr lang="en-IN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FB3C021-7460-29FC-EE77-98C1B50F6F1C}"/>
              </a:ext>
            </a:extLst>
          </p:cNvPr>
          <p:cNvSpPr/>
          <p:nvPr/>
        </p:nvSpPr>
        <p:spPr>
          <a:xfrm>
            <a:off x="7481194" y="4717568"/>
            <a:ext cx="1426191" cy="402609"/>
          </a:xfrm>
          <a:prstGeom prst="roundRect">
            <a:avLst/>
          </a:prstGeom>
          <a:solidFill>
            <a:srgbClr val="C9B6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Analyze</a:t>
            </a:r>
            <a:endParaRPr lang="en-IN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0787C79-8DAF-E29F-F58E-E8B83099A877}"/>
              </a:ext>
            </a:extLst>
          </p:cNvPr>
          <p:cNvSpPr/>
          <p:nvPr/>
        </p:nvSpPr>
        <p:spPr>
          <a:xfrm>
            <a:off x="9635314" y="4717571"/>
            <a:ext cx="1426191" cy="402609"/>
          </a:xfrm>
          <a:prstGeom prst="roundRect">
            <a:avLst/>
          </a:prstGeom>
          <a:solidFill>
            <a:srgbClr val="C9B6F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AI Output</a:t>
            </a:r>
            <a:endParaRPr lang="en-IN" dirty="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022E2810-24F5-4791-BB6F-6F2F2A71C12F}"/>
              </a:ext>
            </a:extLst>
          </p:cNvPr>
          <p:cNvSpPr/>
          <p:nvPr/>
        </p:nvSpPr>
        <p:spPr>
          <a:xfrm>
            <a:off x="2150851" y="3397853"/>
            <a:ext cx="365136" cy="170411"/>
          </a:xfrm>
          <a:prstGeom prst="rightArrow">
            <a:avLst/>
          </a:prstGeom>
          <a:solidFill>
            <a:srgbClr val="C9B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2339A009-A705-6A73-69AD-D7D40AB7B153}"/>
              </a:ext>
            </a:extLst>
          </p:cNvPr>
          <p:cNvSpPr/>
          <p:nvPr/>
        </p:nvSpPr>
        <p:spPr>
          <a:xfrm>
            <a:off x="4575491" y="3397853"/>
            <a:ext cx="365136" cy="170411"/>
          </a:xfrm>
          <a:prstGeom prst="rightArrow">
            <a:avLst/>
          </a:prstGeom>
          <a:solidFill>
            <a:srgbClr val="C9B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6D64CBE2-78D2-E08F-00D2-0093D099EF30}"/>
              </a:ext>
            </a:extLst>
          </p:cNvPr>
          <p:cNvSpPr/>
          <p:nvPr/>
        </p:nvSpPr>
        <p:spPr>
          <a:xfrm>
            <a:off x="6895453" y="3426744"/>
            <a:ext cx="365136" cy="170411"/>
          </a:xfrm>
          <a:prstGeom prst="rightArrow">
            <a:avLst/>
          </a:prstGeom>
          <a:solidFill>
            <a:srgbClr val="C9B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71AE4C8C-B875-8500-83BE-68DF544348E2}"/>
              </a:ext>
            </a:extLst>
          </p:cNvPr>
          <p:cNvSpPr/>
          <p:nvPr/>
        </p:nvSpPr>
        <p:spPr>
          <a:xfrm>
            <a:off x="9081317" y="3426744"/>
            <a:ext cx="365136" cy="170411"/>
          </a:xfrm>
          <a:prstGeom prst="rightArrow">
            <a:avLst/>
          </a:prstGeom>
          <a:solidFill>
            <a:srgbClr val="C9B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F71D937-75C3-B6A5-F832-FD82592CC77B}"/>
              </a:ext>
            </a:extLst>
          </p:cNvPr>
          <p:cNvCxnSpPr>
            <a:cxnSpLocks/>
          </p:cNvCxnSpPr>
          <p:nvPr/>
        </p:nvCxnSpPr>
        <p:spPr>
          <a:xfrm flipV="1">
            <a:off x="155643" y="826851"/>
            <a:ext cx="7104946" cy="9728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044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BFC3B-B85E-6C34-F3AF-6ED7DE2E7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" y="19635"/>
            <a:ext cx="7577432" cy="782664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bg1"/>
                </a:solidFill>
                <a:latin typeface="Montserrat Bold" panose="00000800000000000000" pitchFamily="2" charset="0"/>
              </a:rPr>
              <a:t>   PROJECT STRUCTURE (FILES)</a:t>
            </a:r>
            <a:endParaRPr lang="en-IN" sz="3600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1A01AF-43EB-5D92-F0FD-E9CAC65556C4}"/>
              </a:ext>
            </a:extLst>
          </p:cNvPr>
          <p:cNvSpPr/>
          <p:nvPr/>
        </p:nvSpPr>
        <p:spPr>
          <a:xfrm>
            <a:off x="491716" y="1138750"/>
            <a:ext cx="5219409" cy="5504639"/>
          </a:xfrm>
          <a:prstGeom prst="roundRect">
            <a:avLst/>
          </a:prstGeom>
          <a:ln>
            <a:noFill/>
          </a:ln>
          <a:effectLst>
            <a:softEdge rad="127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accent5">
                    <a:lumMod val="20000"/>
                    <a:lumOff val="8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algn="just">
              <a:lnSpc>
                <a:spcPct val="150000"/>
              </a:lnSpc>
            </a:pPr>
            <a:endParaRPr lang="en-IN" dirty="0">
              <a:solidFill>
                <a:schemeClr val="accent5">
                  <a:lumMod val="20000"/>
                  <a:lumOff val="8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D9A493-F826-1DEB-D98E-099C24D539CA}"/>
              </a:ext>
            </a:extLst>
          </p:cNvPr>
          <p:cNvSpPr txBox="1"/>
          <p:nvPr/>
        </p:nvSpPr>
        <p:spPr>
          <a:xfrm>
            <a:off x="1217603" y="1542891"/>
            <a:ext cx="2219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expense_project/</a:t>
            </a:r>
            <a:endParaRPr lang="en-IN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05DCC0-0678-8D98-3E99-0E3ED6119EAA}"/>
              </a:ext>
            </a:extLst>
          </p:cNvPr>
          <p:cNvCxnSpPr>
            <a:cxnSpLocks/>
          </p:cNvCxnSpPr>
          <p:nvPr/>
        </p:nvCxnSpPr>
        <p:spPr>
          <a:xfrm flipH="1">
            <a:off x="1474786" y="1912223"/>
            <a:ext cx="7843" cy="412436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80FAE2-F204-4C8B-5827-9449EC09E739}"/>
              </a:ext>
            </a:extLst>
          </p:cNvPr>
          <p:cNvSpPr txBox="1"/>
          <p:nvPr/>
        </p:nvSpPr>
        <p:spPr>
          <a:xfrm>
            <a:off x="1920259" y="2247023"/>
            <a:ext cx="160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Main.py</a:t>
            </a:r>
            <a:endParaRPr lang="en-IN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BEDFB3-0044-3A5F-9010-D1A6BE5695B3}"/>
              </a:ext>
            </a:extLst>
          </p:cNvPr>
          <p:cNvSpPr txBox="1"/>
          <p:nvPr/>
        </p:nvSpPr>
        <p:spPr>
          <a:xfrm>
            <a:off x="1920258" y="2897992"/>
            <a:ext cx="160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expense.py</a:t>
            </a:r>
            <a:endParaRPr lang="en-IN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F9D9CE-EB14-6896-096A-8ACBB3E9130C}"/>
              </a:ext>
            </a:extLst>
          </p:cNvPr>
          <p:cNvSpPr txBox="1"/>
          <p:nvPr/>
        </p:nvSpPr>
        <p:spPr>
          <a:xfrm>
            <a:off x="1920260" y="3592804"/>
            <a:ext cx="2102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File_handler.py</a:t>
            </a:r>
            <a:endParaRPr lang="en-IN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B1F079-2648-0DE5-981A-BDFFBF6D8A3C}"/>
              </a:ext>
            </a:extLst>
          </p:cNvPr>
          <p:cNvSpPr txBox="1"/>
          <p:nvPr/>
        </p:nvSpPr>
        <p:spPr>
          <a:xfrm>
            <a:off x="1920260" y="4211099"/>
            <a:ext cx="160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analysis.py</a:t>
            </a:r>
            <a:endParaRPr lang="en-IN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BCF712-E473-2929-3E62-7AA341077501}"/>
              </a:ext>
            </a:extLst>
          </p:cNvPr>
          <p:cNvSpPr txBox="1"/>
          <p:nvPr/>
        </p:nvSpPr>
        <p:spPr>
          <a:xfrm>
            <a:off x="1890921" y="4916882"/>
            <a:ext cx="190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Ai_helper.py</a:t>
            </a:r>
            <a:endParaRPr lang="en-IN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8D5195-DD34-6E37-D8E7-758257773428}"/>
              </a:ext>
            </a:extLst>
          </p:cNvPr>
          <p:cNvSpPr txBox="1"/>
          <p:nvPr/>
        </p:nvSpPr>
        <p:spPr>
          <a:xfrm>
            <a:off x="1904761" y="5535177"/>
            <a:ext cx="160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data.csv</a:t>
            </a:r>
            <a:endParaRPr lang="en-IN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84807A8-D963-69EB-6553-06C7C8B52AA8}"/>
              </a:ext>
            </a:extLst>
          </p:cNvPr>
          <p:cNvCxnSpPr/>
          <p:nvPr/>
        </p:nvCxnSpPr>
        <p:spPr>
          <a:xfrm>
            <a:off x="1502331" y="2431689"/>
            <a:ext cx="44547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808A17A-4D42-61F5-467B-3027730A9EDC}"/>
              </a:ext>
            </a:extLst>
          </p:cNvPr>
          <p:cNvCxnSpPr/>
          <p:nvPr/>
        </p:nvCxnSpPr>
        <p:spPr>
          <a:xfrm>
            <a:off x="1502331" y="3115431"/>
            <a:ext cx="44547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428A949-FDF2-FB02-328E-C8B3D5B4A69E}"/>
              </a:ext>
            </a:extLst>
          </p:cNvPr>
          <p:cNvCxnSpPr/>
          <p:nvPr/>
        </p:nvCxnSpPr>
        <p:spPr>
          <a:xfrm>
            <a:off x="1502331" y="3777470"/>
            <a:ext cx="44547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7B0649A-0586-1D96-8EF8-90DA90B664B2}"/>
              </a:ext>
            </a:extLst>
          </p:cNvPr>
          <p:cNvCxnSpPr/>
          <p:nvPr/>
        </p:nvCxnSpPr>
        <p:spPr>
          <a:xfrm>
            <a:off x="1482629" y="4395765"/>
            <a:ext cx="44547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7EC558-A75D-E606-06B8-531D7BCFE013}"/>
              </a:ext>
            </a:extLst>
          </p:cNvPr>
          <p:cNvCxnSpPr/>
          <p:nvPr/>
        </p:nvCxnSpPr>
        <p:spPr>
          <a:xfrm>
            <a:off x="1482629" y="5090578"/>
            <a:ext cx="44547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41DA2B6-002C-2726-F097-45C95AB05F21}"/>
              </a:ext>
            </a:extLst>
          </p:cNvPr>
          <p:cNvCxnSpPr/>
          <p:nvPr/>
        </p:nvCxnSpPr>
        <p:spPr>
          <a:xfrm>
            <a:off x="1474786" y="5760308"/>
            <a:ext cx="445473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0D8DCAE-B56A-9BEB-4163-D30348529D59}"/>
              </a:ext>
            </a:extLst>
          </p:cNvPr>
          <p:cNvSpPr/>
          <p:nvPr/>
        </p:nvSpPr>
        <p:spPr>
          <a:xfrm>
            <a:off x="6840712" y="2060804"/>
            <a:ext cx="3165231" cy="429873"/>
          </a:xfrm>
          <a:prstGeom prst="roundRect">
            <a:avLst/>
          </a:prstGeom>
          <a:solidFill>
            <a:srgbClr val="C9B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Main program (Manu)</a:t>
            </a:r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BD75F4B-E889-F796-2CA4-51617D6330C9}"/>
              </a:ext>
            </a:extLst>
          </p:cNvPr>
          <p:cNvSpPr/>
          <p:nvPr/>
        </p:nvSpPr>
        <p:spPr>
          <a:xfrm>
            <a:off x="6840712" y="2848367"/>
            <a:ext cx="3165231" cy="429873"/>
          </a:xfrm>
          <a:prstGeom prst="roundRect">
            <a:avLst/>
          </a:prstGeom>
          <a:solidFill>
            <a:srgbClr val="C9B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Expense class  (Modal)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C34B8B0-C82E-C67C-DE94-38216E08797F}"/>
              </a:ext>
            </a:extLst>
          </p:cNvPr>
          <p:cNvSpPr/>
          <p:nvPr/>
        </p:nvSpPr>
        <p:spPr>
          <a:xfrm>
            <a:off x="6840712" y="4286932"/>
            <a:ext cx="3165231" cy="429873"/>
          </a:xfrm>
          <a:prstGeom prst="roundRect">
            <a:avLst/>
          </a:prstGeom>
          <a:solidFill>
            <a:srgbClr val="C9B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Reports using pandas 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DC99273-CE85-CF41-EFBC-794977348369}"/>
              </a:ext>
            </a:extLst>
          </p:cNvPr>
          <p:cNvSpPr/>
          <p:nvPr/>
        </p:nvSpPr>
        <p:spPr>
          <a:xfrm>
            <a:off x="6840712" y="3578852"/>
            <a:ext cx="3165231" cy="429873"/>
          </a:xfrm>
          <a:prstGeom prst="roundRect">
            <a:avLst/>
          </a:prstGeom>
          <a:solidFill>
            <a:srgbClr val="C9B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 </a:t>
            </a: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Save &amp; Load data 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831EB3D-0433-3E71-B536-0896423F6182}"/>
              </a:ext>
            </a:extLst>
          </p:cNvPr>
          <p:cNvSpPr/>
          <p:nvPr/>
        </p:nvSpPr>
        <p:spPr>
          <a:xfrm>
            <a:off x="6840712" y="4911054"/>
            <a:ext cx="3165231" cy="429873"/>
          </a:xfrm>
          <a:prstGeom prst="roundRect">
            <a:avLst/>
          </a:prstGeom>
          <a:solidFill>
            <a:srgbClr val="C9B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AI suggestions </a:t>
            </a:r>
            <a:endParaRPr lang="en-IN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3BC92C8-38AC-DBA4-66B3-7D444745D330}"/>
              </a:ext>
            </a:extLst>
          </p:cNvPr>
          <p:cNvSpPr/>
          <p:nvPr/>
        </p:nvSpPr>
        <p:spPr>
          <a:xfrm>
            <a:off x="6840711" y="5606372"/>
            <a:ext cx="3165231" cy="429873"/>
          </a:xfrm>
          <a:prstGeom prst="roundRect">
            <a:avLst/>
          </a:prstGeom>
          <a:solidFill>
            <a:srgbClr val="C9B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Stored data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74EE89D3-271F-8D76-C7A1-EB8AEBD3303F}"/>
              </a:ext>
            </a:extLst>
          </p:cNvPr>
          <p:cNvCxnSpPr/>
          <p:nvPr/>
        </p:nvCxnSpPr>
        <p:spPr>
          <a:xfrm>
            <a:off x="5812971" y="2275740"/>
            <a:ext cx="83042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DB571BA-8B14-CB51-7517-05DF29AC41DD}"/>
              </a:ext>
            </a:extLst>
          </p:cNvPr>
          <p:cNvCxnSpPr/>
          <p:nvPr/>
        </p:nvCxnSpPr>
        <p:spPr>
          <a:xfrm>
            <a:off x="5812971" y="3063303"/>
            <a:ext cx="83042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5081110-D03A-1B76-8FA9-5B25A5090C21}"/>
              </a:ext>
            </a:extLst>
          </p:cNvPr>
          <p:cNvCxnSpPr/>
          <p:nvPr/>
        </p:nvCxnSpPr>
        <p:spPr>
          <a:xfrm>
            <a:off x="5812971" y="3777470"/>
            <a:ext cx="83042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6D886B1-5845-3E0E-B17E-FE4857C7DA55}"/>
              </a:ext>
            </a:extLst>
          </p:cNvPr>
          <p:cNvCxnSpPr/>
          <p:nvPr/>
        </p:nvCxnSpPr>
        <p:spPr>
          <a:xfrm>
            <a:off x="5812971" y="4545289"/>
            <a:ext cx="83042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5A1B0E5-213E-884D-5902-978D1ECF3E6C}"/>
              </a:ext>
            </a:extLst>
          </p:cNvPr>
          <p:cNvCxnSpPr/>
          <p:nvPr/>
        </p:nvCxnSpPr>
        <p:spPr>
          <a:xfrm>
            <a:off x="5812971" y="5146832"/>
            <a:ext cx="83042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2E241F6-07B7-6586-C452-106EA6807EB8}"/>
              </a:ext>
            </a:extLst>
          </p:cNvPr>
          <p:cNvCxnSpPr/>
          <p:nvPr/>
        </p:nvCxnSpPr>
        <p:spPr>
          <a:xfrm>
            <a:off x="5812971" y="5776836"/>
            <a:ext cx="83042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6" name="Flowchart: Connector 55">
            <a:extLst>
              <a:ext uri="{FF2B5EF4-FFF2-40B4-BE49-F238E27FC236}">
                <a16:creationId xmlns:a16="http://schemas.microsoft.com/office/drawing/2014/main" id="{948529DD-A901-3DD4-FB74-4BE768CDC852}"/>
              </a:ext>
            </a:extLst>
          </p:cNvPr>
          <p:cNvSpPr/>
          <p:nvPr/>
        </p:nvSpPr>
        <p:spPr>
          <a:xfrm>
            <a:off x="9457701" y="886285"/>
            <a:ext cx="955248" cy="751392"/>
          </a:xfrm>
          <a:prstGeom prst="flowChartConnector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40D1936B-EAC3-015F-9203-EDF38BA48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24082" y="968168"/>
            <a:ext cx="622485" cy="587626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BB5F6B-7F47-D7B4-4CAB-FF04695FF24B}"/>
              </a:ext>
            </a:extLst>
          </p:cNvPr>
          <p:cNvCxnSpPr>
            <a:cxnSpLocks/>
          </p:cNvCxnSpPr>
          <p:nvPr/>
        </p:nvCxnSpPr>
        <p:spPr>
          <a:xfrm>
            <a:off x="389106" y="690663"/>
            <a:ext cx="6731541" cy="0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608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BE39D-00E7-1565-6890-3329D058B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57" y="90693"/>
            <a:ext cx="4467830" cy="841462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Montserrat Bold" panose="00000800000000000000" pitchFamily="2" charset="0"/>
              </a:rPr>
              <a:t>    EXPENSE.</a:t>
            </a:r>
            <a:r>
              <a:rPr lang="en-IN" sz="3600" dirty="0">
                <a:solidFill>
                  <a:schemeClr val="bg1"/>
                </a:solidFill>
                <a:latin typeface="Montserrat Bold" panose="00000800000000000000" pitchFamily="2" charset="0"/>
              </a:rPr>
              <a:t>PY</a:t>
            </a:r>
            <a:r>
              <a:rPr lang="en-IN" sz="4000" dirty="0">
                <a:solidFill>
                  <a:schemeClr val="bg1"/>
                </a:solidFill>
                <a:latin typeface="Montserrat Bold" panose="00000800000000000000" pitchFamily="2" charset="0"/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12F536-5193-B78D-0A15-810C0BC87FCF}"/>
              </a:ext>
            </a:extLst>
          </p:cNvPr>
          <p:cNvSpPr/>
          <p:nvPr/>
        </p:nvSpPr>
        <p:spPr>
          <a:xfrm>
            <a:off x="62143" y="2104049"/>
            <a:ext cx="6307493" cy="621396"/>
          </a:xfrm>
          <a:prstGeom prst="roundRect">
            <a:avLst/>
          </a:prstGeom>
          <a:solidFill>
            <a:srgbClr val="A864F2"/>
          </a:solidFill>
          <a:ln>
            <a:solidFill>
              <a:srgbClr val="6A11C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e</a:t>
            </a:r>
            <a:r>
              <a:rPr lang="en-US" dirty="0">
                <a:latin typeface="Consolas" panose="020B0609020204030204" pitchFamily="49" charset="0"/>
              </a:rPr>
              <a:t>xpense.py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D5591A-2E48-9B2C-8E41-953A30427631}"/>
              </a:ext>
            </a:extLst>
          </p:cNvPr>
          <p:cNvSpPr/>
          <p:nvPr/>
        </p:nvSpPr>
        <p:spPr>
          <a:xfrm>
            <a:off x="62144" y="2635894"/>
            <a:ext cx="6307493" cy="3461660"/>
          </a:xfrm>
          <a:prstGeom prst="rect">
            <a:avLst/>
          </a:prstGeom>
          <a:effectLst>
            <a:softEdge rad="127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class </a:t>
            </a:r>
            <a:r>
              <a:rPr lang="en-US" dirty="0">
                <a:latin typeface="Consolas" panose="020B0609020204030204" pitchFamily="49" charset="0"/>
              </a:rPr>
              <a:t>Expen</a:t>
            </a:r>
            <a:r>
              <a:rPr lang="en-US" dirty="0">
                <a:solidFill>
                  <a:srgbClr val="FFFF00"/>
                </a:solidFill>
                <a:latin typeface="Consolas" panose="020B0609020204030204" pitchFamily="49" charset="0"/>
              </a:rPr>
              <a:t>se</a:t>
            </a:r>
            <a:r>
              <a:rPr lang="en-US" dirty="0">
                <a:latin typeface="Consolas" panose="020B0609020204030204" pitchFamily="49" charset="0"/>
              </a:rPr>
              <a:t>: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>
                <a:solidFill>
                  <a:srgbClr val="FFC000"/>
                </a:solidFill>
                <a:latin typeface="Consolas" panose="020B0609020204030204" pitchFamily="49" charset="0"/>
              </a:rPr>
              <a:t>def __</a:t>
            </a:r>
            <a:r>
              <a:rPr lang="en-US" dirty="0">
                <a:solidFill>
                  <a:srgbClr val="FFFF00"/>
                </a:solidFill>
                <a:latin typeface="Consolas" panose="020B0609020204030204" pitchFamily="49" charset="0"/>
              </a:rPr>
              <a:t>init__</a:t>
            </a:r>
            <a:r>
              <a:rPr lang="en-US" dirty="0">
                <a:latin typeface="Consolas" panose="020B0609020204030204" pitchFamily="49" charset="0"/>
              </a:rPr>
              <a:t>(self,amount, category,date):</a:t>
            </a:r>
          </a:p>
          <a:p>
            <a:r>
              <a:rPr lang="en-US" dirty="0">
                <a:latin typeface="Consolas" panose="020B0609020204030204" pitchFamily="49" charset="0"/>
              </a:rPr>
              <a:t>        self.amount = amount</a:t>
            </a:r>
          </a:p>
          <a:p>
            <a:r>
              <a:rPr lang="en-US" dirty="0">
                <a:latin typeface="Consolas" panose="020B0609020204030204" pitchFamily="49" charset="0"/>
              </a:rPr>
              <a:t>        self.category = category</a:t>
            </a:r>
          </a:p>
          <a:p>
            <a:r>
              <a:rPr lang="en-US" dirty="0">
                <a:latin typeface="Consolas" panose="020B0609020204030204" pitchFamily="49" charset="0"/>
              </a:rPr>
              <a:t>        self.date = date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32D7E5-0D6F-55C2-5892-EBD6CCDD16B0}"/>
              </a:ext>
            </a:extLst>
          </p:cNvPr>
          <p:cNvSpPr/>
          <p:nvPr/>
        </p:nvSpPr>
        <p:spPr>
          <a:xfrm>
            <a:off x="7636661" y="1733076"/>
            <a:ext cx="4304740" cy="528201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EXPLANATION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D13D8E3-E013-9290-50DA-74BC632C47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1810" y="2592557"/>
            <a:ext cx="459074" cy="45907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44826174-9902-57E6-3CB1-B9D4BBBD68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1810" y="5425260"/>
            <a:ext cx="459074" cy="45907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5A6B0B9-1FE4-C5A4-52A2-FC7D19C48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1812" y="4430565"/>
            <a:ext cx="459074" cy="459074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03F23D30-0BE5-8168-5FAC-C4136356CB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42887" y="3587252"/>
            <a:ext cx="459074" cy="45907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4B18A1-7FD6-EC0D-F5B7-486ED384F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134" y="176859"/>
            <a:ext cx="553473" cy="55347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455EFC-E669-FD05-B15E-323A59DC2A28}"/>
              </a:ext>
            </a:extLst>
          </p:cNvPr>
          <p:cNvCxnSpPr/>
          <p:nvPr/>
        </p:nvCxnSpPr>
        <p:spPr>
          <a:xfrm>
            <a:off x="240357" y="826851"/>
            <a:ext cx="4494179" cy="0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906B372-B5F5-AA90-AC18-923E95F0A590}"/>
              </a:ext>
            </a:extLst>
          </p:cNvPr>
          <p:cNvSpPr/>
          <p:nvPr/>
        </p:nvSpPr>
        <p:spPr>
          <a:xfrm>
            <a:off x="7672431" y="2489807"/>
            <a:ext cx="4286857" cy="673092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Expense class is created using OOP     concept</a:t>
            </a:r>
            <a:endParaRPr lang="en-IN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6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978B5EC-A286-E045-D98D-9DE03D25C164}"/>
              </a:ext>
            </a:extLst>
          </p:cNvPr>
          <p:cNvSpPr/>
          <p:nvPr/>
        </p:nvSpPr>
        <p:spPr>
          <a:xfrm>
            <a:off x="7672432" y="3529051"/>
            <a:ext cx="4307484" cy="673091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Constructor initializes amount, category and date</a:t>
            </a:r>
            <a:br>
              <a:rPr lang="en-US" sz="1600" dirty="0"/>
            </a:br>
            <a:endParaRPr lang="en-IN" sz="1600" dirty="0">
              <a:solidFill>
                <a:schemeClr val="bg1"/>
              </a:solidFill>
            </a:endParaRPr>
          </a:p>
          <a:p>
            <a:endParaRPr lang="en-IN" sz="16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452461C-78D6-EFA5-0D93-0960C5D0F1E1}"/>
              </a:ext>
            </a:extLst>
          </p:cNvPr>
          <p:cNvSpPr/>
          <p:nvPr/>
        </p:nvSpPr>
        <p:spPr>
          <a:xfrm>
            <a:off x="7672431" y="4385219"/>
            <a:ext cx="4307484" cy="673092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Objects are created for every expense entry</a:t>
            </a:r>
            <a:br>
              <a:rPr lang="en-US" sz="1600" dirty="0"/>
            </a:br>
            <a:endParaRPr lang="en-IN" sz="1600" dirty="0">
              <a:solidFill>
                <a:schemeClr val="bg1"/>
              </a:solidFill>
            </a:endParaRPr>
          </a:p>
          <a:p>
            <a:endParaRPr lang="en-IN" sz="16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E9F5782-C1A9-F630-D68D-5ACFAB37DFD9}"/>
              </a:ext>
            </a:extLst>
          </p:cNvPr>
          <p:cNvSpPr/>
          <p:nvPr/>
        </p:nvSpPr>
        <p:spPr>
          <a:xfrm>
            <a:off x="7654544" y="5307789"/>
            <a:ext cx="4286857" cy="673092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 is stored using self keyword</a:t>
            </a:r>
            <a:endParaRPr lang="en-IN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66190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06EE-4A28-182E-3D34-C7E1671B2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2" y="0"/>
            <a:ext cx="6864688" cy="753626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Montserrat Bold" panose="00000800000000000000" pitchFamily="2" charset="0"/>
              </a:rPr>
              <a:t> </a:t>
            </a:r>
            <a:r>
              <a:rPr lang="en-IN" sz="3200" dirty="0"/>
              <a:t>📁</a:t>
            </a:r>
            <a:r>
              <a:rPr lang="en-IN" sz="3200" dirty="0">
                <a:solidFill>
                  <a:schemeClr val="bg1"/>
                </a:solidFill>
                <a:latin typeface="Montserrat Bold" panose="00000800000000000000" pitchFamily="2" charset="0"/>
              </a:rPr>
              <a:t>FILE_HANDLER.PY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87C86B-8B8B-6F8B-D621-F419EC3F3DD5}"/>
              </a:ext>
            </a:extLst>
          </p:cNvPr>
          <p:cNvSpPr/>
          <p:nvPr/>
        </p:nvSpPr>
        <p:spPr>
          <a:xfrm>
            <a:off x="88772" y="822112"/>
            <a:ext cx="5951415" cy="511058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File_handler.py</a:t>
            </a:r>
            <a:endParaRPr lang="en-IN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1BE33-A851-D18C-F0C3-66E42D67A007}"/>
              </a:ext>
            </a:extLst>
          </p:cNvPr>
          <p:cNvSpPr/>
          <p:nvPr/>
        </p:nvSpPr>
        <p:spPr>
          <a:xfrm>
            <a:off x="88773" y="1239386"/>
            <a:ext cx="5951415" cy="2995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import</a:t>
            </a:r>
            <a:r>
              <a:rPr lang="en-IN" sz="1100" dirty="0">
                <a:latin typeface="Consolas" panose="020B0609020204030204" pitchFamily="49" charset="0"/>
              </a:rPr>
              <a:t> os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from expense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import</a:t>
            </a:r>
            <a:r>
              <a:rPr lang="en-IN" sz="1100" dirty="0">
                <a:latin typeface="Consolas" panose="020B0609020204030204" pitchFamily="49" charset="0"/>
              </a:rPr>
              <a:t> Expense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def </a:t>
            </a:r>
            <a:r>
              <a:rPr lang="en-IN" sz="1100" dirty="0">
                <a:solidFill>
                  <a:srgbClr val="4246F8"/>
                </a:solidFill>
                <a:latin typeface="Consolas" panose="020B0609020204030204" pitchFamily="49" charset="0"/>
              </a:rPr>
              <a:t>save_to_file</a:t>
            </a:r>
            <a:r>
              <a:rPr lang="en-IN" sz="1100" dirty="0">
                <a:latin typeface="Consolas" panose="020B0609020204030204" pitchFamily="49" charset="0"/>
              </a:rPr>
              <a:t>(expenses):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try: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path = os.path.join(os.path.dirname(__file__), </a:t>
            </a:r>
            <a:r>
              <a:rPr lang="en-IN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"data.csv“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IN" sz="1100" dirty="0"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"Saving to:"</a:t>
            </a:r>
            <a:r>
              <a:rPr lang="en-IN" sz="1100" dirty="0">
                <a:latin typeface="Consolas" panose="020B0609020204030204" pitchFamily="49" charset="0"/>
              </a:rPr>
              <a:t>, path)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with</a:t>
            </a:r>
            <a:r>
              <a:rPr lang="en-IN" sz="1100" dirty="0"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7030A0"/>
                </a:solidFill>
                <a:latin typeface="Consolas" panose="020B0609020204030204" pitchFamily="49" charset="0"/>
              </a:rPr>
              <a:t>open</a:t>
            </a:r>
            <a:r>
              <a:rPr lang="en-IN" sz="1100" dirty="0">
                <a:latin typeface="Consolas" panose="020B0609020204030204" pitchFamily="49" charset="0"/>
              </a:rPr>
              <a:t>(path, </a:t>
            </a:r>
            <a:r>
              <a:rPr lang="en-IN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"w"</a:t>
            </a:r>
            <a:r>
              <a:rPr lang="en-IN" sz="1100" dirty="0">
                <a:latin typeface="Consolas" panose="020B0609020204030204" pitchFamily="49" charset="0"/>
              </a:rPr>
              <a:t>)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as</a:t>
            </a:r>
            <a:r>
              <a:rPr lang="en-IN" sz="1100" dirty="0">
                <a:latin typeface="Consolas" panose="020B0609020204030204" pitchFamily="49" charset="0"/>
              </a:rPr>
              <a:t> file: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for</a:t>
            </a:r>
            <a:r>
              <a:rPr lang="en-IN" sz="1100" dirty="0">
                <a:latin typeface="Consolas" panose="020B0609020204030204" pitchFamily="49" charset="0"/>
              </a:rPr>
              <a:t> e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in</a:t>
            </a:r>
            <a:r>
              <a:rPr lang="en-IN" sz="1100" dirty="0">
                <a:latin typeface="Consolas" panose="020B0609020204030204" pitchFamily="49" charset="0"/>
              </a:rPr>
              <a:t> expenses: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        file.write(</a:t>
            </a:r>
            <a:r>
              <a:rPr lang="en-IN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f"{e.amount},{e.category},{e.date}\n</a:t>
            </a:r>
            <a:r>
              <a:rPr lang="en-IN" sz="1100" dirty="0">
                <a:latin typeface="Consolas" panose="020B0609020204030204" pitchFamily="49" charset="0"/>
              </a:rPr>
              <a:t>")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except</a:t>
            </a:r>
            <a:r>
              <a:rPr lang="en-IN" sz="1100" dirty="0"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7030A0"/>
                </a:solidFill>
                <a:latin typeface="Consolas" panose="020B0609020204030204" pitchFamily="49" charset="0"/>
              </a:rPr>
              <a:t>Exception</a:t>
            </a:r>
            <a:r>
              <a:rPr lang="en-IN" sz="1100" dirty="0"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as</a:t>
            </a:r>
            <a:r>
              <a:rPr lang="en-IN" sz="1100" dirty="0">
                <a:latin typeface="Consolas" panose="020B0609020204030204" pitchFamily="49" charset="0"/>
              </a:rPr>
              <a:t> e:</a:t>
            </a:r>
          </a:p>
          <a:p>
            <a:r>
              <a:rPr lang="en-IN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print</a:t>
            </a:r>
            <a:r>
              <a:rPr lang="en-IN" sz="1100" dirty="0"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"Save Error:"</a:t>
            </a:r>
            <a:r>
              <a:rPr lang="en-IN" sz="1100" dirty="0">
                <a:latin typeface="Consolas" panose="020B0609020204030204" pitchFamily="49" charset="0"/>
              </a:rPr>
              <a:t>, e)</a:t>
            </a:r>
          </a:p>
          <a:p>
            <a:endParaRPr lang="en-IN" dirty="0">
              <a:latin typeface="Consolas" panose="020B0609020204030204" pitchFamily="49" charset="0"/>
            </a:endParaRPr>
          </a:p>
          <a:p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792BDE-A0EB-629B-1158-513D3D6BA87F}"/>
              </a:ext>
            </a:extLst>
          </p:cNvPr>
          <p:cNvSpPr/>
          <p:nvPr/>
        </p:nvSpPr>
        <p:spPr>
          <a:xfrm>
            <a:off x="88773" y="3862425"/>
            <a:ext cx="5951415" cy="299557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def</a:t>
            </a:r>
            <a:r>
              <a:rPr lang="en-IN" sz="1100" dirty="0"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4246F8"/>
                </a:solidFill>
                <a:latin typeface="Consolas" panose="020B0609020204030204" pitchFamily="49" charset="0"/>
              </a:rPr>
              <a:t>load_from_file</a:t>
            </a:r>
            <a:r>
              <a:rPr lang="en-IN" sz="1100" dirty="0">
                <a:latin typeface="Consolas" panose="020B0609020204030204" pitchFamily="49" charset="0"/>
              </a:rPr>
              <a:t>():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expenses = []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try: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path = os.path.join(os.path.dirname(__file__), </a:t>
            </a:r>
            <a:r>
              <a:rPr lang="en-IN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"data.csv"</a:t>
            </a:r>
            <a:r>
              <a:rPr lang="en-IN" sz="1100" dirty="0">
                <a:latin typeface="Consolas" panose="020B0609020204030204" pitchFamily="49" charset="0"/>
              </a:rPr>
              <a:t>)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7030A0"/>
                </a:solidFill>
                <a:latin typeface="Consolas" panose="020B0609020204030204" pitchFamily="49" charset="0"/>
              </a:rPr>
              <a:t>        print</a:t>
            </a:r>
            <a:r>
              <a:rPr lang="en-IN" sz="1100" dirty="0"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"Loading from:", </a:t>
            </a:r>
            <a:r>
              <a:rPr lang="en-IN" sz="1100" dirty="0">
                <a:latin typeface="Consolas" panose="020B0609020204030204" pitchFamily="49" charset="0"/>
              </a:rPr>
              <a:t>path)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with</a:t>
            </a:r>
            <a:r>
              <a:rPr lang="en-IN" sz="1100" dirty="0"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7030A0"/>
                </a:solidFill>
                <a:latin typeface="Consolas" panose="020B0609020204030204" pitchFamily="49" charset="0"/>
              </a:rPr>
              <a:t>open</a:t>
            </a:r>
            <a:r>
              <a:rPr lang="en-IN" sz="1100" dirty="0">
                <a:latin typeface="Consolas" panose="020B0609020204030204" pitchFamily="49" charset="0"/>
              </a:rPr>
              <a:t>(path, </a:t>
            </a:r>
            <a:r>
              <a:rPr lang="en-IN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"r"</a:t>
            </a:r>
            <a:r>
              <a:rPr lang="en-IN" sz="1100" dirty="0">
                <a:latin typeface="Consolas" panose="020B0609020204030204" pitchFamily="49" charset="0"/>
              </a:rPr>
              <a:t>)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as</a:t>
            </a:r>
            <a:r>
              <a:rPr lang="en-IN" sz="1100" dirty="0">
                <a:latin typeface="Consolas" panose="020B0609020204030204" pitchFamily="49" charset="0"/>
              </a:rPr>
              <a:t> file:</a:t>
            </a:r>
          </a:p>
          <a:p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        for </a:t>
            </a:r>
            <a:r>
              <a:rPr lang="en-IN" sz="1100" dirty="0">
                <a:latin typeface="Consolas" panose="020B0609020204030204" pitchFamily="49" charset="0"/>
              </a:rPr>
              <a:t>line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in</a:t>
            </a:r>
            <a:r>
              <a:rPr lang="en-IN" sz="1100" dirty="0">
                <a:latin typeface="Consolas" panose="020B0609020204030204" pitchFamily="49" charset="0"/>
              </a:rPr>
              <a:t> file: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        data = line.strip().split(",")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        expenses.append(Expense(</a:t>
            </a:r>
            <a:r>
              <a:rPr lang="en-IN" sz="1100" dirty="0">
                <a:solidFill>
                  <a:srgbClr val="7030A0"/>
                </a:solidFill>
                <a:latin typeface="Consolas" panose="020B0609020204030204" pitchFamily="49" charset="0"/>
              </a:rPr>
              <a:t>float</a:t>
            </a:r>
            <a:r>
              <a:rPr lang="en-IN" sz="1100" dirty="0">
                <a:latin typeface="Consolas" panose="020B0609020204030204" pitchFamily="49" charset="0"/>
              </a:rPr>
              <a:t>(data[0]), data[1], data[2]))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except</a:t>
            </a:r>
            <a:r>
              <a:rPr lang="en-IN" sz="1100" dirty="0">
                <a:latin typeface="Consolas" panose="020B0609020204030204" pitchFamily="49" charset="0"/>
              </a:rPr>
              <a:t>: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7030A0"/>
                </a:solidFill>
                <a:latin typeface="Consolas" panose="020B0609020204030204" pitchFamily="49" charset="0"/>
              </a:rPr>
              <a:t>print</a:t>
            </a:r>
            <a:r>
              <a:rPr lang="en-IN" sz="1100" dirty="0"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"File not found"</a:t>
            </a:r>
            <a:r>
              <a:rPr lang="en-IN" sz="1100" dirty="0">
                <a:latin typeface="Consolas" panose="020B0609020204030204" pitchFamily="49" charset="0"/>
              </a:rPr>
              <a:t>)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return</a:t>
            </a:r>
            <a:r>
              <a:rPr lang="en-IN" sz="1100" dirty="0">
                <a:latin typeface="Consolas" panose="020B0609020204030204" pitchFamily="49" charset="0"/>
              </a:rPr>
              <a:t> expenses</a:t>
            </a:r>
          </a:p>
          <a:p>
            <a:endParaRPr lang="en-IN" sz="1100" dirty="0">
              <a:latin typeface="Consolas" panose="020B0609020204030204" pitchFamily="49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085E049-93CE-27B6-DD9F-9CFF99509EFE}"/>
              </a:ext>
            </a:extLst>
          </p:cNvPr>
          <p:cNvSpPr/>
          <p:nvPr/>
        </p:nvSpPr>
        <p:spPr>
          <a:xfrm>
            <a:off x="7548689" y="812297"/>
            <a:ext cx="4215735" cy="520873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Explanation </a:t>
            </a: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26DA8B2D-FAC3-E8B3-9656-69A6C4D9BC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7847" y="1660374"/>
            <a:ext cx="388419" cy="38841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66CC544A-D6C4-34D9-30EB-C981802375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7847" y="2435386"/>
            <a:ext cx="388419" cy="388419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45120D49-E066-2A20-2845-024795603D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77847" y="3234790"/>
            <a:ext cx="388419" cy="388419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C05E053F-A642-90BA-A309-BC356B9FDD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65653" y="4153312"/>
            <a:ext cx="388419" cy="38841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F2F1835-9C42-D2BE-0F02-0893B113C15C}"/>
              </a:ext>
            </a:extLst>
          </p:cNvPr>
          <p:cNvSpPr/>
          <p:nvPr/>
        </p:nvSpPr>
        <p:spPr>
          <a:xfrm>
            <a:off x="7548687" y="4099279"/>
            <a:ext cx="4215735" cy="520873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Exception handling prevents file errors</a:t>
            </a:r>
            <a:endParaRPr lang="en-IN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6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51B904-498F-E931-282B-50E69AED269A}"/>
              </a:ext>
            </a:extLst>
          </p:cNvPr>
          <p:cNvSpPr/>
          <p:nvPr/>
        </p:nvSpPr>
        <p:spPr>
          <a:xfrm>
            <a:off x="7548688" y="3210399"/>
            <a:ext cx="4215734" cy="520873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Uses file handling for data persistence</a:t>
            </a:r>
          </a:p>
          <a:p>
            <a:endParaRPr lang="en-IN" sz="16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EA8B53E-A5AA-50E9-85AB-57BE55732912}"/>
              </a:ext>
            </a:extLst>
          </p:cNvPr>
          <p:cNvSpPr/>
          <p:nvPr/>
        </p:nvSpPr>
        <p:spPr>
          <a:xfrm>
            <a:off x="7548689" y="2389316"/>
            <a:ext cx="4215734" cy="520873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Loads saved data when application starts</a:t>
            </a:r>
            <a:endParaRPr lang="en-IN" sz="16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6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C388AC0-A9A4-460D-DD2A-D95895FADA1B}"/>
              </a:ext>
            </a:extLst>
          </p:cNvPr>
          <p:cNvSpPr/>
          <p:nvPr/>
        </p:nvSpPr>
        <p:spPr>
          <a:xfrm>
            <a:off x="7548689" y="1589573"/>
            <a:ext cx="4215734" cy="520873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Stores expense data in CSV file</a:t>
            </a:r>
            <a:endParaRPr lang="en-IN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37D397-14C8-5B94-AB0A-1FB38D76631B}"/>
              </a:ext>
            </a:extLst>
          </p:cNvPr>
          <p:cNvCxnSpPr/>
          <p:nvPr/>
        </p:nvCxnSpPr>
        <p:spPr>
          <a:xfrm>
            <a:off x="340468" y="583660"/>
            <a:ext cx="4795737" cy="0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451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F11E0-4DA1-ECD7-1D87-C76A0103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156" y="129467"/>
            <a:ext cx="5245485" cy="732681"/>
          </a:xfrm>
        </p:spPr>
        <p:txBody>
          <a:bodyPr>
            <a:normAutofit/>
          </a:bodyPr>
          <a:lstStyle/>
          <a:p>
            <a:r>
              <a:rPr lang="en-IN" sz="3200" dirty="0"/>
              <a:t>📊</a:t>
            </a:r>
            <a:r>
              <a:rPr lang="en-IN" sz="3200" dirty="0">
                <a:solidFill>
                  <a:schemeClr val="bg1"/>
                </a:solidFill>
                <a:latin typeface="Montserrat Bold" panose="00000800000000000000" pitchFamily="2" charset="0"/>
              </a:rPr>
              <a:t>ANALYSIS.PY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F72491D-595B-01BC-A217-8E0136E4F311}"/>
              </a:ext>
            </a:extLst>
          </p:cNvPr>
          <p:cNvSpPr/>
          <p:nvPr/>
        </p:nvSpPr>
        <p:spPr>
          <a:xfrm>
            <a:off x="91440" y="1375787"/>
            <a:ext cx="5913120" cy="497840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analysis.py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E42781-5891-39B4-4605-306CB470655B}"/>
              </a:ext>
            </a:extLst>
          </p:cNvPr>
          <p:cNvSpPr/>
          <p:nvPr/>
        </p:nvSpPr>
        <p:spPr>
          <a:xfrm>
            <a:off x="91440" y="1793240"/>
            <a:ext cx="5913120" cy="467868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import</a:t>
            </a:r>
            <a:r>
              <a:rPr lang="en-IN" sz="1100" dirty="0">
                <a:latin typeface="Consolas" panose="020B0609020204030204" pitchFamily="49" charset="0"/>
              </a:rPr>
              <a:t> pandas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as</a:t>
            </a:r>
            <a:r>
              <a:rPr lang="en-IN" sz="1100" dirty="0">
                <a:latin typeface="Consolas" panose="020B0609020204030204" pitchFamily="49" charset="0"/>
              </a:rPr>
              <a:t> pd</a:t>
            </a:r>
          </a:p>
          <a:p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import</a:t>
            </a:r>
            <a:r>
              <a:rPr lang="en-IN" sz="1100" dirty="0">
                <a:latin typeface="Consolas" panose="020B0609020204030204" pitchFamily="49" charset="0"/>
              </a:rPr>
              <a:t> os 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def </a:t>
            </a:r>
            <a:r>
              <a:rPr lang="en-IN" sz="1100" dirty="0">
                <a:solidFill>
                  <a:srgbClr val="4246F8"/>
                </a:solidFill>
                <a:latin typeface="Consolas" panose="020B0609020204030204" pitchFamily="49" charset="0"/>
              </a:rPr>
              <a:t>category_report</a:t>
            </a:r>
            <a:r>
              <a:rPr lang="en-IN" sz="1100" dirty="0">
                <a:latin typeface="Consolas" panose="020B0609020204030204" pitchFamily="49" charset="0"/>
              </a:rPr>
              <a:t>(expenses):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report = {}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for</a:t>
            </a:r>
            <a:r>
              <a:rPr lang="en-IN" sz="1100" dirty="0">
                <a:latin typeface="Consolas" panose="020B0609020204030204" pitchFamily="49" charset="0"/>
              </a:rPr>
              <a:t> e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in</a:t>
            </a:r>
            <a:r>
              <a:rPr lang="en-IN" sz="1100" dirty="0">
                <a:latin typeface="Consolas" panose="020B0609020204030204" pitchFamily="49" charset="0"/>
              </a:rPr>
              <a:t> expenses:</a:t>
            </a:r>
          </a:p>
          <a:p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    if </a:t>
            </a:r>
            <a:r>
              <a:rPr lang="en-IN" sz="1100" dirty="0">
                <a:latin typeface="Consolas" panose="020B0609020204030204" pitchFamily="49" charset="0"/>
              </a:rPr>
              <a:t>e.category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in</a:t>
            </a:r>
            <a:r>
              <a:rPr lang="en-IN" sz="1100" dirty="0">
                <a:latin typeface="Consolas" panose="020B0609020204030204" pitchFamily="49" charset="0"/>
              </a:rPr>
              <a:t> report: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    report[e.category] += e.amount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</a:t>
            </a:r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 else</a:t>
            </a:r>
            <a:r>
              <a:rPr lang="en-IN" sz="1100" dirty="0">
                <a:latin typeface="Consolas" panose="020B0609020204030204" pitchFamily="49" charset="0"/>
              </a:rPr>
              <a:t>: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    report[e.category] = e.amount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A864F2"/>
                </a:solidFill>
                <a:latin typeface="Consolas" panose="020B0609020204030204" pitchFamily="49" charset="0"/>
              </a:rPr>
              <a:t>print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00B050"/>
                </a:solidFill>
                <a:latin typeface="Consolas" panose="020B0609020204030204" pitchFamily="49" charset="0"/>
              </a:rPr>
              <a:t>"\n--- Category Report ---"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100" dirty="0">
                <a:solidFill>
                  <a:srgbClr val="A864F2"/>
                </a:solidFill>
                <a:latin typeface="Consolas" panose="020B0609020204030204" pitchFamily="49" charset="0"/>
              </a:rPr>
              <a:t>    print</a:t>
            </a:r>
            <a:r>
              <a:rPr lang="en-IN" sz="1100" dirty="0">
                <a:latin typeface="Consolas" panose="020B0609020204030204" pitchFamily="49" charset="0"/>
              </a:rPr>
              <a:t>(report)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def</a:t>
            </a:r>
            <a:r>
              <a:rPr lang="en-IN" sz="1100" dirty="0">
                <a:latin typeface="Consolas" panose="020B0609020204030204" pitchFamily="49" charset="0"/>
              </a:rPr>
              <a:t> </a:t>
            </a:r>
            <a:r>
              <a:rPr lang="en-IN" sz="1100" dirty="0">
                <a:solidFill>
                  <a:srgbClr val="4246F8"/>
                </a:solidFill>
                <a:latin typeface="Consolas" panose="020B0609020204030204" pitchFamily="49" charset="0"/>
              </a:rPr>
              <a:t>analyze</a:t>
            </a:r>
            <a:r>
              <a:rPr lang="en-IN" sz="1100" dirty="0">
                <a:latin typeface="Consolas" panose="020B0609020204030204" pitchFamily="49" charset="0"/>
              </a:rPr>
              <a:t>():</a:t>
            </a:r>
          </a:p>
          <a:p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    try</a:t>
            </a:r>
            <a:r>
              <a:rPr lang="en-IN" sz="1100" dirty="0">
                <a:latin typeface="Consolas" panose="020B0609020204030204" pitchFamily="49" charset="0"/>
              </a:rPr>
              <a:t>: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file_path = os.path.join(os.path.dirname(__file__), </a:t>
            </a:r>
            <a:r>
              <a:rPr lang="en-IN" sz="1100" dirty="0">
                <a:solidFill>
                  <a:srgbClr val="00B050"/>
                </a:solidFill>
                <a:latin typeface="Consolas" panose="020B0609020204030204" pitchFamily="49" charset="0"/>
              </a:rPr>
              <a:t>"data.csv"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        df = pd.read_csv(file_path, names=[</a:t>
            </a:r>
            <a:r>
              <a:rPr lang="en-IN" sz="1100" dirty="0">
                <a:solidFill>
                  <a:srgbClr val="00B050"/>
                </a:solidFill>
                <a:latin typeface="Consolas" panose="020B0609020204030204" pitchFamily="49" charset="0"/>
              </a:rPr>
              <a:t>"Amount", "Category", "Date"]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864F2"/>
                </a:solidFill>
                <a:latin typeface="Consolas" panose="020B0609020204030204" pitchFamily="49" charset="0"/>
              </a:rPr>
              <a:t>print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00B050"/>
                </a:solidFill>
                <a:latin typeface="Consolas" panose="020B0609020204030204" pitchFamily="49" charset="0"/>
              </a:rPr>
              <a:t>"\n--- Category Wise Total Expense ---"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864F2"/>
                </a:solidFill>
                <a:latin typeface="Consolas" panose="020B0609020204030204" pitchFamily="49" charset="0"/>
              </a:rPr>
              <a:t>print</a:t>
            </a:r>
            <a:r>
              <a:rPr lang="en-IN" sz="1100" dirty="0">
                <a:latin typeface="Consolas" panose="020B0609020204030204" pitchFamily="49" charset="0"/>
              </a:rPr>
              <a:t>(</a:t>
            </a:r>
            <a:r>
              <a:rPr lang="en-IN" sz="1100" dirty="0" err="1">
                <a:latin typeface="Consolas" panose="020B0609020204030204" pitchFamily="49" charset="0"/>
              </a:rPr>
              <a:t>df.groupby</a:t>
            </a:r>
            <a:r>
              <a:rPr lang="en-IN" sz="1100" dirty="0"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00B050"/>
                </a:solidFill>
                <a:latin typeface="Consolas" panose="020B0609020204030204" pitchFamily="49" charset="0"/>
              </a:rPr>
              <a:t>"Category"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)[</a:t>
            </a:r>
            <a:r>
              <a:rPr lang="en-IN" sz="1100" dirty="0">
                <a:solidFill>
                  <a:srgbClr val="00B050"/>
                </a:solidFill>
                <a:latin typeface="Consolas" panose="020B0609020204030204" pitchFamily="49" charset="0"/>
              </a:rPr>
              <a:t>"Amount"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].</a:t>
            </a:r>
            <a:r>
              <a:rPr lang="en-IN" sz="1100" dirty="0">
                <a:latin typeface="Consolas" panose="020B0609020204030204" pitchFamily="49" charset="0"/>
              </a:rPr>
              <a:t>sum())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    except </a:t>
            </a:r>
            <a:r>
              <a:rPr lang="en-IN" sz="1100" dirty="0">
                <a:solidFill>
                  <a:srgbClr val="A864F2"/>
                </a:solidFill>
                <a:latin typeface="Consolas" panose="020B0609020204030204" pitchFamily="49" charset="0"/>
              </a:rPr>
              <a:t>Exception</a:t>
            </a:r>
            <a:r>
              <a:rPr lang="en-IN" sz="1100" dirty="0">
                <a:latin typeface="Consolas" panose="020B0609020204030204" pitchFamily="49" charset="0"/>
              </a:rPr>
              <a:t> as e: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</a:t>
            </a:r>
            <a:r>
              <a:rPr lang="en-IN" sz="1100" dirty="0">
                <a:solidFill>
                  <a:srgbClr val="A864F2"/>
                </a:solidFill>
                <a:latin typeface="Consolas" panose="020B0609020204030204" pitchFamily="49" charset="0"/>
              </a:rPr>
              <a:t>print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00B050"/>
                </a:solidFill>
                <a:latin typeface="Consolas" panose="020B0609020204030204" pitchFamily="49" charset="0"/>
              </a:rPr>
              <a:t>"Error:"</a:t>
            </a:r>
            <a:r>
              <a:rPr lang="en-IN" sz="1100" dirty="0">
                <a:latin typeface="Consolas" panose="020B0609020204030204" pitchFamily="49" charset="0"/>
              </a:rPr>
              <a:t>, e)</a:t>
            </a:r>
          </a:p>
          <a:p>
            <a:endParaRPr lang="en-IN" sz="1100" dirty="0">
              <a:latin typeface="Consolas" panose="020B0609020204030204" pitchFamily="49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98D397-47EF-7E91-3388-C0C981A444C2}"/>
              </a:ext>
            </a:extLst>
          </p:cNvPr>
          <p:cNvSpPr/>
          <p:nvPr/>
        </p:nvSpPr>
        <p:spPr>
          <a:xfrm>
            <a:off x="7492766" y="1359682"/>
            <a:ext cx="4323806" cy="497840"/>
          </a:xfrm>
          <a:prstGeom prst="roundRect">
            <a:avLst/>
          </a:prstGeom>
          <a:solidFill>
            <a:srgbClr val="9448E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Explanation</a:t>
            </a: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C219581-5259-8F6A-1F0B-2439C74EA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9142" y="2101679"/>
            <a:ext cx="371828" cy="37182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5F01947C-5BEC-821E-7DB1-14B118E201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6603" y="4515046"/>
            <a:ext cx="371827" cy="37182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DA44F4E-1ECB-55B5-929B-8FC3F88A9C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6602" y="3681771"/>
            <a:ext cx="371828" cy="37182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56642E20-1180-A21D-26B0-BB11FD8204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6602" y="2901125"/>
            <a:ext cx="371828" cy="371828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3D66C7D-E67B-BFBE-5979-958B330DD6C4}"/>
              </a:ext>
            </a:extLst>
          </p:cNvPr>
          <p:cNvSpPr/>
          <p:nvPr/>
        </p:nvSpPr>
        <p:spPr>
          <a:xfrm>
            <a:off x="7501342" y="4461588"/>
            <a:ext cx="4315228" cy="551298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Generates expense reports  automatically</a:t>
            </a:r>
          </a:p>
          <a:p>
            <a:endParaRPr lang="en-IN" sz="1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6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CBDD86B-8581-FF9C-2D13-54810E35A26E}"/>
              </a:ext>
            </a:extLst>
          </p:cNvPr>
          <p:cNvSpPr/>
          <p:nvPr/>
        </p:nvSpPr>
        <p:spPr>
          <a:xfrm>
            <a:off x="7501342" y="3657312"/>
            <a:ext cx="4323804" cy="551298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solidFill>
                <a:srgbClr val="FFC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600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groupby() </a:t>
            </a:r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calculates category-wise expense</a:t>
            </a:r>
          </a:p>
          <a:p>
            <a:endParaRPr lang="en-IN" sz="16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9E08AC3-AC21-FD02-8700-1F581B2A177F}"/>
              </a:ext>
            </a:extLst>
          </p:cNvPr>
          <p:cNvSpPr/>
          <p:nvPr/>
        </p:nvSpPr>
        <p:spPr>
          <a:xfrm>
            <a:off x="7492765" y="2853036"/>
            <a:ext cx="4323805" cy="497840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CSV data is loaded into </a:t>
            </a:r>
            <a:r>
              <a:rPr lang="en-US" sz="1600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DataFrame</a:t>
            </a:r>
            <a:endParaRPr lang="en-IN" sz="1600" dirty="0">
              <a:solidFill>
                <a:srgbClr val="FFC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8C3198A-6882-86B1-81C9-82010650A249}"/>
              </a:ext>
            </a:extLst>
          </p:cNvPr>
          <p:cNvSpPr/>
          <p:nvPr/>
        </p:nvSpPr>
        <p:spPr>
          <a:xfrm>
            <a:off x="7501342" y="2048760"/>
            <a:ext cx="4323805" cy="497840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Used </a:t>
            </a:r>
            <a:r>
              <a:rPr lang="en-US" sz="1600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pandas</a:t>
            </a: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library for data analysis</a:t>
            </a:r>
            <a:endParaRPr lang="en-IN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6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12F97D3-C7C1-44CA-0FEF-DEE3F3E19ADD}"/>
              </a:ext>
            </a:extLst>
          </p:cNvPr>
          <p:cNvCxnSpPr>
            <a:cxnSpLocks/>
          </p:cNvCxnSpPr>
          <p:nvPr/>
        </p:nvCxnSpPr>
        <p:spPr>
          <a:xfrm>
            <a:off x="418289" y="729574"/>
            <a:ext cx="3560324" cy="0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060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551BB-625C-5400-9756-FA48DBBB9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23" y="77028"/>
            <a:ext cx="4805680" cy="665922"/>
          </a:xfrm>
        </p:spPr>
        <p:txBody>
          <a:bodyPr>
            <a:no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Montserrat Bold" panose="00000800000000000000" pitchFamily="2" charset="0"/>
                <a:cs typeface="Poppins" panose="00000500000000000000" pitchFamily="2" charset="0"/>
              </a:rPr>
              <a:t>  </a:t>
            </a:r>
            <a:br>
              <a:rPr lang="en-IN" sz="3600" dirty="0">
                <a:latin typeface="Montserrat Bold" panose="00000800000000000000" pitchFamily="2" charset="0"/>
              </a:rPr>
            </a:br>
            <a:br>
              <a:rPr lang="en-IN" sz="3600" dirty="0">
                <a:latin typeface="Montserrat Bold" panose="00000800000000000000" pitchFamily="2" charset="0"/>
              </a:rPr>
            </a:br>
            <a:r>
              <a:rPr lang="en-IN" sz="3600" b="1" dirty="0">
                <a:latin typeface="Montserrat Bold" panose="00000800000000000000" pitchFamily="2" charset="0"/>
              </a:rPr>
              <a:t>🤖</a:t>
            </a:r>
            <a:r>
              <a:rPr lang="en-IN" sz="3600" b="1" dirty="0">
                <a:solidFill>
                  <a:schemeClr val="bg1"/>
                </a:solidFill>
                <a:latin typeface="Montserrat Bold" panose="00000800000000000000" pitchFamily="2" charset="0"/>
                <a:cs typeface="Poppins" panose="00000500000000000000" pitchFamily="2" charset="0"/>
              </a:rPr>
              <a:t>AI Helper.PY</a:t>
            </a:r>
            <a:br>
              <a:rPr lang="en-IN" sz="3600" b="1" dirty="0">
                <a:latin typeface="Montserrat Bold" panose="00000800000000000000" pitchFamily="2" charset="0"/>
              </a:rPr>
            </a:br>
            <a:r>
              <a:rPr lang="en-IN" sz="3600" b="1" dirty="0">
                <a:latin typeface="Montserrat Bold" panose="00000800000000000000" pitchFamily="2" charset="0"/>
              </a:rPr>
              <a:t> </a:t>
            </a:r>
            <a:br>
              <a:rPr lang="en-IN" sz="3600" b="1" dirty="0">
                <a:latin typeface="Montserrat Bold" panose="00000800000000000000" pitchFamily="2" charset="0"/>
              </a:rPr>
            </a:br>
            <a:r>
              <a:rPr lang="en-IN" sz="3600" dirty="0">
                <a:solidFill>
                  <a:schemeClr val="bg1"/>
                </a:solidFill>
                <a:latin typeface="Montserrat Bold" panose="00000800000000000000" pitchFamily="2" charset="0"/>
                <a:cs typeface="Poppins" panose="00000500000000000000" pitchFamily="2" charset="0"/>
              </a:rPr>
              <a:t>   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F5118B-3E14-C431-1D95-FA2383E459FF}"/>
              </a:ext>
            </a:extLst>
          </p:cNvPr>
          <p:cNvSpPr/>
          <p:nvPr/>
        </p:nvSpPr>
        <p:spPr>
          <a:xfrm>
            <a:off x="264523" y="1766120"/>
            <a:ext cx="4805680" cy="538480"/>
          </a:xfrm>
          <a:prstGeom prst="roundRect">
            <a:avLst/>
          </a:prstGeom>
          <a:solidFill>
            <a:srgbClr val="A855F7"/>
          </a:solidFill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ai_helper.py</a:t>
            </a:r>
            <a:endParaRPr lang="en-IN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18D4E7-CBAC-4A2F-9EA7-38680A911B20}"/>
              </a:ext>
            </a:extLst>
          </p:cNvPr>
          <p:cNvSpPr/>
          <p:nvPr/>
        </p:nvSpPr>
        <p:spPr>
          <a:xfrm>
            <a:off x="264523" y="2210816"/>
            <a:ext cx="4805680" cy="29748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100" dirty="0">
                <a:solidFill>
                  <a:srgbClr val="A855F7"/>
                </a:solidFill>
                <a:latin typeface="Consolas" panose="020B0609020204030204" pitchFamily="49" charset="0"/>
              </a:rPr>
              <a:t>client</a:t>
            </a:r>
            <a:r>
              <a:rPr lang="en-IN" sz="1100" dirty="0">
                <a:latin typeface="Consolas" panose="020B0609020204030204" pitchFamily="49" charset="0"/>
              </a:rPr>
              <a:t> = </a:t>
            </a:r>
            <a:r>
              <a:rPr lang="en-IN" sz="1100" dirty="0">
                <a:solidFill>
                  <a:srgbClr val="A855F7"/>
                </a:solidFill>
                <a:latin typeface="Consolas" panose="020B0609020204030204" pitchFamily="49" charset="0"/>
              </a:rPr>
              <a:t>Groq</a:t>
            </a:r>
            <a:r>
              <a:rPr lang="en-IN" sz="1100" dirty="0">
                <a:latin typeface="Consolas" panose="020B0609020204030204" pitchFamily="49" charset="0"/>
              </a:rPr>
              <a:t>(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api_key=</a:t>
            </a:r>
            <a:r>
              <a:rPr lang="en-IN" sz="1100" dirty="0">
                <a:solidFill>
                  <a:srgbClr val="92D050"/>
                </a:solidFill>
                <a:latin typeface="Consolas" panose="020B0609020204030204" pitchFamily="49" charset="0"/>
              </a:rPr>
              <a:t>"********"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)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A855F7"/>
                </a:solidFill>
                <a:latin typeface="Consolas" panose="020B0609020204030204" pitchFamily="49" charset="0"/>
              </a:rPr>
              <a:t>response</a:t>
            </a:r>
            <a:r>
              <a:rPr lang="en-IN" sz="1100" dirty="0">
                <a:latin typeface="Consolas" panose="020B0609020204030204" pitchFamily="49" charset="0"/>
              </a:rPr>
              <a:t> = </a:t>
            </a:r>
            <a:r>
              <a:rPr lang="en-IN" sz="1100" dirty="0">
                <a:solidFill>
                  <a:srgbClr val="A855F7"/>
                </a:solidFill>
                <a:latin typeface="Consolas" panose="020B0609020204030204" pitchFamily="49" charset="0"/>
              </a:rPr>
              <a:t>client</a:t>
            </a:r>
            <a:r>
              <a:rPr lang="en-IN" sz="1100" dirty="0">
                <a:latin typeface="Consolas" panose="020B0609020204030204" pitchFamily="49" charset="0"/>
              </a:rPr>
              <a:t>.chat.completions.create(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A855F7"/>
                </a:solidFill>
                <a:latin typeface="Consolas" panose="020B0609020204030204" pitchFamily="49" charset="0"/>
              </a:rPr>
              <a:t>model</a:t>
            </a:r>
            <a:r>
              <a:rPr lang="en-IN" sz="1100" dirty="0"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92D050"/>
                </a:solidFill>
                <a:latin typeface="Consolas" panose="020B0609020204030204" pitchFamily="49" charset="0"/>
              </a:rPr>
              <a:t>"llama-3.3-70b-versatile"</a:t>
            </a:r>
            <a:r>
              <a:rPr lang="en-IN" sz="1100" dirty="0">
                <a:latin typeface="Consolas" panose="020B0609020204030204" pitchFamily="49" charset="0"/>
              </a:rPr>
              <a:t>,</a:t>
            </a:r>
          </a:p>
          <a:p>
            <a:endParaRPr lang="en-IN" sz="1100" dirty="0">
              <a:latin typeface="Consolas" panose="020B0609020204030204" pitchFamily="49" charset="0"/>
            </a:endParaRPr>
          </a:p>
          <a:p>
            <a:r>
              <a:rPr lang="en-IN" sz="1100" dirty="0">
                <a:latin typeface="Consolas" panose="020B0609020204030204" pitchFamily="49" charset="0"/>
              </a:rPr>
              <a:t>    </a:t>
            </a:r>
            <a:r>
              <a:rPr lang="en-IN" sz="1100" dirty="0">
                <a:solidFill>
                  <a:srgbClr val="A855F7"/>
                </a:solidFill>
                <a:latin typeface="Consolas" panose="020B0609020204030204" pitchFamily="49" charset="0"/>
              </a:rPr>
              <a:t>messages</a:t>
            </a:r>
            <a:r>
              <a:rPr lang="en-IN" sz="1100" dirty="0">
                <a:latin typeface="Consolas" panose="020B0609020204030204" pitchFamily="49" charset="0"/>
              </a:rPr>
              <a:t>=[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{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92D050"/>
                </a:solidFill>
                <a:latin typeface="Consolas" panose="020B0609020204030204" pitchFamily="49" charset="0"/>
              </a:rPr>
              <a:t>"role": "user"</a:t>
            </a:r>
            <a:r>
              <a:rPr lang="en-IN" sz="1100" dirty="0">
                <a:latin typeface="Consolas" panose="020B0609020204030204" pitchFamily="49" charset="0"/>
              </a:rPr>
              <a:t>,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    </a:t>
            </a:r>
            <a:r>
              <a:rPr lang="en-IN" sz="1100" dirty="0">
                <a:solidFill>
                  <a:srgbClr val="92D050"/>
                </a:solidFill>
                <a:latin typeface="Consolas" panose="020B0609020204030204" pitchFamily="49" charset="0"/>
              </a:rPr>
              <a:t>"content"</a:t>
            </a:r>
            <a:r>
              <a:rPr lang="en-IN" sz="1100" dirty="0">
                <a:latin typeface="Consolas" panose="020B0609020204030204" pitchFamily="49" charset="0"/>
              </a:rPr>
              <a:t>: </a:t>
            </a:r>
            <a:r>
              <a:rPr lang="en-IN" sz="1100" dirty="0">
                <a:solidFill>
                  <a:srgbClr val="A855F7"/>
                </a:solidFill>
                <a:latin typeface="Consolas" panose="020B0609020204030204" pitchFamily="49" charset="0"/>
              </a:rPr>
              <a:t>prompt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    }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    ]</a:t>
            </a:r>
          </a:p>
          <a:p>
            <a:r>
              <a:rPr lang="en-IN" sz="11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122B74-27A1-C3B5-10DF-CE4F72B6F7FF}"/>
              </a:ext>
            </a:extLst>
          </p:cNvPr>
          <p:cNvSpPr/>
          <p:nvPr/>
        </p:nvSpPr>
        <p:spPr>
          <a:xfrm>
            <a:off x="7899452" y="1766120"/>
            <a:ext cx="3296934" cy="440944"/>
          </a:xfrm>
          <a:prstGeom prst="roundRect">
            <a:avLst/>
          </a:prstGeom>
          <a:solidFill>
            <a:srgbClr val="A855F7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Explanation</a:t>
            </a: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9B8A882-7E82-09CD-9301-136AAE10D2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3015" y="2453981"/>
            <a:ext cx="408564" cy="408564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0360985-C808-2311-E8DD-4EBF742B3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3016" y="3278970"/>
            <a:ext cx="398846" cy="39884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E1DFC79-8915-7F1D-4A27-765D3AE8BC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3014" y="4169567"/>
            <a:ext cx="408564" cy="40856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E6EBE10-A972-A511-9291-D77F69E87D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23014" y="4981382"/>
            <a:ext cx="408564" cy="40856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D697679-CEA6-13E8-DCBE-EBD3B200BC26}"/>
              </a:ext>
            </a:extLst>
          </p:cNvPr>
          <p:cNvSpPr/>
          <p:nvPr/>
        </p:nvSpPr>
        <p:spPr>
          <a:xfrm>
            <a:off x="7899451" y="5002788"/>
            <a:ext cx="3296935" cy="547077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 can ask </a:t>
            </a:r>
            <a:r>
              <a:rPr lang="en-US" sz="1600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finance-related</a:t>
            </a: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questions</a:t>
            </a:r>
            <a:endParaRPr lang="en-IN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6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25E11F-5746-095D-DB7A-20EEE19269A8}"/>
              </a:ext>
            </a:extLst>
          </p:cNvPr>
          <p:cNvSpPr/>
          <p:nvPr/>
        </p:nvSpPr>
        <p:spPr>
          <a:xfrm>
            <a:off x="7899451" y="4136718"/>
            <a:ext cx="3296935" cy="547077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Generates </a:t>
            </a:r>
            <a:r>
              <a:rPr lang="en-IN" sz="1600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AI-based</a:t>
            </a:r>
            <a:r>
              <a:rPr lang="en-IN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financial advice</a:t>
            </a:r>
          </a:p>
          <a:p>
            <a:endParaRPr lang="en-IN" sz="16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D9346F-7E9E-C343-5778-5B19035C8693}"/>
              </a:ext>
            </a:extLst>
          </p:cNvPr>
          <p:cNvSpPr/>
          <p:nvPr/>
        </p:nvSpPr>
        <p:spPr>
          <a:xfrm>
            <a:off x="7899452" y="3270648"/>
            <a:ext cx="3296934" cy="547077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Uses </a:t>
            </a:r>
            <a:r>
              <a:rPr lang="en-US" sz="1600" dirty="0">
                <a:solidFill>
                  <a:srgbClr val="FFC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LLM model </a:t>
            </a: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for smart suggestions</a:t>
            </a:r>
            <a:endParaRPr lang="en-IN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6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2EDDE5B-E5B1-8874-A529-472E4B1E8155}"/>
              </a:ext>
            </a:extLst>
          </p:cNvPr>
          <p:cNvSpPr/>
          <p:nvPr/>
        </p:nvSpPr>
        <p:spPr>
          <a:xfrm>
            <a:off x="7899452" y="2421132"/>
            <a:ext cx="3296934" cy="547077"/>
          </a:xfrm>
          <a:prstGeom prst="roundRect">
            <a:avLst/>
          </a:prstGeom>
          <a:solidFill>
            <a:srgbClr val="A864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Integrated </a:t>
            </a:r>
            <a:r>
              <a:rPr lang="en-IN" sz="1600" dirty="0">
                <a:solidFill>
                  <a:srgbClr val="FFC000"/>
                </a:solidFill>
              </a:rPr>
              <a:t>Groq AI API</a:t>
            </a:r>
            <a:endParaRPr lang="en-IN" sz="1600" dirty="0">
              <a:solidFill>
                <a:srgbClr val="FFC000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IN" sz="16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6B1C540-A5EB-33CF-E55A-10BB1AC1483B}"/>
              </a:ext>
            </a:extLst>
          </p:cNvPr>
          <p:cNvCxnSpPr>
            <a:cxnSpLocks/>
          </p:cNvCxnSpPr>
          <p:nvPr/>
        </p:nvCxnSpPr>
        <p:spPr>
          <a:xfrm>
            <a:off x="461108" y="672611"/>
            <a:ext cx="3954585" cy="0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947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3245A-3AF9-648F-4E83-4A4D0E308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74" y="21157"/>
            <a:ext cx="7644569" cy="869285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ontserrat Bold" panose="00000800000000000000" pitchFamily="2" charset="0"/>
                <a:cs typeface="Poppins" panose="00000500000000000000" pitchFamily="2" charset="0"/>
              </a:rPr>
              <a:t>Expense MANAGEMENT OUTPUT</a:t>
            </a:r>
            <a:endParaRPr lang="en-IN" sz="3200" b="1" dirty="0">
              <a:solidFill>
                <a:schemeClr val="bg1"/>
              </a:solidFill>
              <a:latin typeface="Montserrat Bold" panose="000008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EFEBF7-602E-4990-2C3A-1AD351538581}"/>
              </a:ext>
            </a:extLst>
          </p:cNvPr>
          <p:cNvSpPr/>
          <p:nvPr/>
        </p:nvSpPr>
        <p:spPr>
          <a:xfrm>
            <a:off x="708329" y="1142449"/>
            <a:ext cx="4391209" cy="587829"/>
          </a:xfrm>
          <a:prstGeom prst="roundRect">
            <a:avLst/>
          </a:prstGeom>
          <a:solidFill>
            <a:srgbClr val="8E2DE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Consolas" panose="020B0609020204030204" pitchFamily="49" charset="0"/>
              </a:rPr>
              <a:t>Add Expanse Output</a:t>
            </a:r>
            <a:endParaRPr lang="en-IN" b="1" dirty="0"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9503C9-FDEC-596D-78CC-8EE680E3B842}"/>
              </a:ext>
            </a:extLst>
          </p:cNvPr>
          <p:cNvSpPr/>
          <p:nvPr/>
        </p:nvSpPr>
        <p:spPr>
          <a:xfrm>
            <a:off x="708329" y="1666613"/>
            <a:ext cx="4391209" cy="41792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023E00-0FF4-9858-ED4F-187F18B4840A}"/>
              </a:ext>
            </a:extLst>
          </p:cNvPr>
          <p:cNvSpPr txBox="1"/>
          <p:nvPr/>
        </p:nvSpPr>
        <p:spPr>
          <a:xfrm>
            <a:off x="743498" y="1834718"/>
            <a:ext cx="4320872" cy="3985706"/>
          </a:xfrm>
          <a:prstGeom prst="rect">
            <a:avLst/>
          </a:prstGeom>
          <a:noFill/>
          <a:effectLst>
            <a:glow rad="127000">
              <a:schemeClr val="tx2">
                <a:lumMod val="75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C: \FinanceTracker&gt;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python main.py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===== FINANCE TRACKER WITH AI ASSISTANCE ====</a:t>
            </a:r>
          </a:p>
          <a:p>
            <a:pPr marL="228600" indent="-228600">
              <a:buAutoNum type="arabicPeriod"/>
            </a:pP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Add Expense</a:t>
            </a: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Enter amount: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500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Enter category: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Food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Enter date (DD-MM-YYYY):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05-05-2026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Expense added successfully!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-----------------------------------</a:t>
            </a: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1. Add Expense</a:t>
            </a: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Enter amount: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300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Enter category: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Travel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Enter date (DD-MM-YYYY):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06-05-2026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Expense added successfully!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-----------------------------------</a:t>
            </a:r>
          </a:p>
          <a:p>
            <a:pPr marL="228600" indent="-228600">
              <a:buAutoNum type="arabicPeriod"/>
            </a:pP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Add Expense</a:t>
            </a: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Enter amount: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1200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Enter category: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Shopping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Enter date (DD-MM-YYYY):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07-05-2026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Expense added successfully!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Press any key to continue...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4D7A27-752F-4723-E987-1FB09CDAB5B9}"/>
              </a:ext>
            </a:extLst>
          </p:cNvPr>
          <p:cNvSpPr/>
          <p:nvPr/>
        </p:nvSpPr>
        <p:spPr>
          <a:xfrm>
            <a:off x="7057295" y="1325085"/>
            <a:ext cx="4672091" cy="494522"/>
          </a:xfrm>
          <a:prstGeom prst="roundRect">
            <a:avLst/>
          </a:prstGeom>
          <a:solidFill>
            <a:srgbClr val="2575FC">
              <a:alpha val="4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View Expense Output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A1E6A9-4DF9-1863-7523-293ABA6BC814}"/>
              </a:ext>
            </a:extLst>
          </p:cNvPr>
          <p:cNvSpPr/>
          <p:nvPr/>
        </p:nvSpPr>
        <p:spPr>
          <a:xfrm>
            <a:off x="7057295" y="1819608"/>
            <a:ext cx="4672091" cy="371330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092579-7E45-ECF2-66F8-34A3EF2C4814}"/>
              </a:ext>
            </a:extLst>
          </p:cNvPr>
          <p:cNvSpPr txBox="1"/>
          <p:nvPr/>
        </p:nvSpPr>
        <p:spPr>
          <a:xfrm>
            <a:off x="7237968" y="1901152"/>
            <a:ext cx="4310743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C:\FinanceTracker&gt;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python main.py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===== FINANCE TRACKER WITH AI ASSISTANCE =====</a:t>
            </a:r>
          </a:p>
          <a:p>
            <a:endParaRPr lang="en-IN" sz="11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FFC000"/>
                </a:solidFill>
                <a:latin typeface="Consolas" panose="020B0609020204030204" pitchFamily="49" charset="0"/>
              </a:rPr>
              <a:t>2. View Expenses</a:t>
            </a:r>
          </a:p>
          <a:p>
            <a:endParaRPr lang="en-IN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+---------------+---------------+---------------+</a:t>
            </a:r>
          </a:p>
          <a:p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|               |               |               |</a:t>
            </a:r>
          </a:p>
          <a:p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+---------------+---------------+---------------+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| 500           | Food          | 05-05-2026    |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| 300           | Travel        | 06-05-2026    |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| 1200          | Shopping      | 07—05-2026    |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| 800           | Bill          | 08-05-2026    |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| 600           | Entertainment | 09-05-2026    |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| 400           | Food          | 10-05-2026    |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| 250           | Travel        | 11-05-2026    |</a:t>
            </a: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+---------------+---------------+---------------+</a:t>
            </a: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TOTAL Expenses: 4050</a:t>
            </a:r>
          </a:p>
          <a:p>
            <a:endParaRPr lang="en-US" sz="11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Press any key to continue...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E03970-424D-F30E-1E38-855C57FE292F}"/>
              </a:ext>
            </a:extLst>
          </p:cNvPr>
          <p:cNvSpPr txBox="1"/>
          <p:nvPr/>
        </p:nvSpPr>
        <p:spPr>
          <a:xfrm>
            <a:off x="7441135" y="2943240"/>
            <a:ext cx="1138193" cy="2678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2575FC"/>
                </a:solidFill>
                <a:latin typeface="Consolas" panose="020B0609020204030204" pitchFamily="49" charset="0"/>
              </a:rPr>
              <a:t>Amount</a:t>
            </a:r>
            <a:endParaRPr lang="en-IN" sz="1100" dirty="0">
              <a:solidFill>
                <a:srgbClr val="2575FC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F676D-D6CB-AA3A-961D-A059314AB28E}"/>
              </a:ext>
            </a:extLst>
          </p:cNvPr>
          <p:cNvSpPr txBox="1"/>
          <p:nvPr/>
        </p:nvSpPr>
        <p:spPr>
          <a:xfrm>
            <a:off x="8657617" y="2907004"/>
            <a:ext cx="1059904" cy="26785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2575FC"/>
                </a:solidFill>
                <a:latin typeface="Consolas" panose="020B0609020204030204" pitchFamily="49" charset="0"/>
              </a:rPr>
              <a:t>Category</a:t>
            </a:r>
            <a:endParaRPr lang="en-IN" sz="1100" dirty="0">
              <a:solidFill>
                <a:srgbClr val="2575FC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C067D0-0C8C-0CBD-F299-27E954886F53}"/>
              </a:ext>
            </a:extLst>
          </p:cNvPr>
          <p:cNvSpPr txBox="1"/>
          <p:nvPr/>
        </p:nvSpPr>
        <p:spPr>
          <a:xfrm>
            <a:off x="9807429" y="2907004"/>
            <a:ext cx="1138193" cy="26785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rgbClr val="2575FC"/>
                </a:solidFill>
                <a:latin typeface="Consolas" panose="020B0609020204030204" pitchFamily="49" charset="0"/>
              </a:rPr>
              <a:t>Date</a:t>
            </a:r>
            <a:endParaRPr lang="en-IN" sz="1100" dirty="0">
              <a:solidFill>
                <a:srgbClr val="2575FC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9D4B33D-0CB3-112A-421B-2100EF1B06BF}"/>
              </a:ext>
            </a:extLst>
          </p:cNvPr>
          <p:cNvSpPr/>
          <p:nvPr/>
        </p:nvSpPr>
        <p:spPr>
          <a:xfrm>
            <a:off x="4096959" y="6239551"/>
            <a:ext cx="4875102" cy="494522"/>
          </a:xfrm>
          <a:prstGeom prst="roundRect">
            <a:avLst/>
          </a:prstGeom>
          <a:solidFill>
            <a:srgbClr val="C5D3FF">
              <a:alpha val="4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          Track and manage daily expenses efficiently</a:t>
            </a:r>
            <a:endParaRPr lang="en-IN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8CAEBFA-65DB-1E0B-077D-22599BFD7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476" y="6358349"/>
            <a:ext cx="270264" cy="23590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2BC4DEF-2A4B-D7DC-855A-055D328F04D6}"/>
              </a:ext>
            </a:extLst>
          </p:cNvPr>
          <p:cNvCxnSpPr>
            <a:cxnSpLocks/>
          </p:cNvCxnSpPr>
          <p:nvPr/>
        </p:nvCxnSpPr>
        <p:spPr>
          <a:xfrm>
            <a:off x="336062" y="687754"/>
            <a:ext cx="6901906" cy="0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703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6DABA-5611-6550-646F-8E164B2B4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40" y="149356"/>
            <a:ext cx="9720072" cy="798107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1"/>
                </a:solidFill>
                <a:latin typeface="Montserrat Bold" panose="00000800000000000000" pitchFamily="2" charset="0"/>
                <a:cs typeface="Poppins" panose="00000500000000000000" pitchFamily="2" charset="0"/>
              </a:rPr>
              <a:t>      ANALYSIS &amp; Suggestion output</a:t>
            </a:r>
            <a:endParaRPr lang="en-IN" sz="3600" b="1" dirty="0">
              <a:solidFill>
                <a:schemeClr val="bg1"/>
              </a:solidFill>
              <a:latin typeface="Montserrat Bold" panose="000008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954C98-2A68-69B3-3E8C-93964C174149}"/>
              </a:ext>
            </a:extLst>
          </p:cNvPr>
          <p:cNvSpPr/>
          <p:nvPr/>
        </p:nvSpPr>
        <p:spPr>
          <a:xfrm>
            <a:off x="334187" y="1199661"/>
            <a:ext cx="3889099" cy="382954"/>
          </a:xfrm>
          <a:prstGeom prst="roundRect">
            <a:avLst/>
          </a:prstGeom>
          <a:solidFill>
            <a:srgbClr val="6A11CB"/>
          </a:solidFill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   PANDAS REPORT OUTPUT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3405F4-8525-AFE6-78AA-26C4BD2C2D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88" y="1274172"/>
            <a:ext cx="233932" cy="2339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4B2B8AC-38A8-F030-B544-B2BCF5D0B978}"/>
              </a:ext>
            </a:extLst>
          </p:cNvPr>
          <p:cNvSpPr/>
          <p:nvPr/>
        </p:nvSpPr>
        <p:spPr>
          <a:xfrm>
            <a:off x="334186" y="1582615"/>
            <a:ext cx="3889099" cy="3345846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723860-A52D-FB26-F6AB-A50567BF742E}"/>
              </a:ext>
            </a:extLst>
          </p:cNvPr>
          <p:cNvSpPr txBox="1"/>
          <p:nvPr/>
        </p:nvSpPr>
        <p:spPr>
          <a:xfrm>
            <a:off x="375451" y="1673817"/>
            <a:ext cx="3889098" cy="334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C:\FinanceTracker&gt;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python main.py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===== FINANCE TRACKER WITH AI ASSISTANCE=====</a:t>
            </a: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3. Expense Report (Category Wise)</a:t>
            </a:r>
          </a:p>
          <a:p>
            <a:endParaRPr lang="en-IN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Generating report...</a:t>
            </a:r>
          </a:p>
          <a:p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+--------------------+--------------------+</a:t>
            </a:r>
          </a:p>
          <a:p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|      </a:t>
            </a:r>
            <a:r>
              <a:rPr lang="en-IN" sz="1100" dirty="0">
                <a:solidFill>
                  <a:schemeClr val="accent1"/>
                </a:solidFill>
                <a:latin typeface="Consolas" panose="020B0609020204030204" pitchFamily="49" charset="0"/>
              </a:rPr>
              <a:t>Category 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|   </a:t>
            </a:r>
            <a:r>
              <a:rPr lang="en-IN" sz="1100" dirty="0">
                <a:solidFill>
                  <a:schemeClr val="accent1"/>
                </a:solidFill>
                <a:latin typeface="Consolas" panose="020B0609020204030204" pitchFamily="49" charset="0"/>
              </a:rPr>
              <a:t>Total Amount     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|</a:t>
            </a:r>
          </a:p>
          <a:p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+--------------------+--------------------+</a:t>
            </a:r>
          </a:p>
          <a:p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| Food               |         </a:t>
            </a:r>
            <a:r>
              <a:rPr lang="en-IN" sz="1100" dirty="0">
                <a:solidFill>
                  <a:srgbClr val="00B050"/>
                </a:solidFill>
                <a:latin typeface="Consolas" panose="020B0609020204030204" pitchFamily="49" charset="0"/>
              </a:rPr>
              <a:t>900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|</a:t>
            </a:r>
          </a:p>
          <a:p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| Travel             |         </a:t>
            </a:r>
            <a:r>
              <a:rPr lang="en-IN" sz="1100" dirty="0">
                <a:solidFill>
                  <a:srgbClr val="00B050"/>
                </a:solidFill>
                <a:latin typeface="Consolas" panose="020B0609020204030204" pitchFamily="49" charset="0"/>
              </a:rPr>
              <a:t>550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|</a:t>
            </a:r>
          </a:p>
          <a:p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| Shopping           |        </a:t>
            </a:r>
            <a:r>
              <a:rPr lang="en-IN" sz="1100" dirty="0">
                <a:solidFill>
                  <a:srgbClr val="00B050"/>
                </a:solidFill>
                <a:latin typeface="Consolas" panose="020B0609020204030204" pitchFamily="49" charset="0"/>
              </a:rPr>
              <a:t>1200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|</a:t>
            </a:r>
          </a:p>
          <a:p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| Bills              |         </a:t>
            </a:r>
            <a:r>
              <a:rPr lang="en-IN" sz="1100" dirty="0">
                <a:solidFill>
                  <a:srgbClr val="00B050"/>
                </a:solidFill>
                <a:latin typeface="Consolas" panose="020B0609020204030204" pitchFamily="49" charset="0"/>
              </a:rPr>
              <a:t>800 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|</a:t>
            </a:r>
          </a:p>
          <a:p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| Entertainment      |         </a:t>
            </a:r>
            <a:r>
              <a:rPr lang="en-IN" sz="1100" dirty="0">
                <a:solidFill>
                  <a:srgbClr val="00B050"/>
                </a:solidFill>
                <a:latin typeface="Consolas" panose="020B0609020204030204" pitchFamily="49" charset="0"/>
              </a:rPr>
              <a:t>600 </a:t>
            </a:r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|</a:t>
            </a:r>
          </a:p>
          <a:p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+--------------------+--------------------+</a:t>
            </a:r>
          </a:p>
          <a:p>
            <a:endParaRPr lang="en-IN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rgbClr val="00B050"/>
                </a:solidFill>
                <a:latin typeface="Consolas" panose="020B0609020204030204" pitchFamily="49" charset="0"/>
              </a:rPr>
              <a:t>Total Expenses: 4050</a:t>
            </a:r>
          </a:p>
          <a:p>
            <a:endParaRPr lang="en-IN" sz="1100" dirty="0">
              <a:solidFill>
                <a:srgbClr val="00B050"/>
              </a:solidFill>
              <a:latin typeface="Consolas" panose="020B0609020204030204" pitchFamily="49" charset="0"/>
            </a:endParaRPr>
          </a:p>
          <a:p>
            <a:r>
              <a:rPr lang="en-IN" sz="1100" dirty="0">
                <a:solidFill>
                  <a:schemeClr val="bg1"/>
                </a:solidFill>
                <a:latin typeface="Consolas" panose="020B0609020204030204" pitchFamily="49" charset="0"/>
              </a:rPr>
              <a:t>Press any key to continue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E997B47-0EED-3264-A92C-363E9882427F}"/>
              </a:ext>
            </a:extLst>
          </p:cNvPr>
          <p:cNvSpPr/>
          <p:nvPr/>
        </p:nvSpPr>
        <p:spPr>
          <a:xfrm>
            <a:off x="7206712" y="1125150"/>
            <a:ext cx="4060556" cy="382954"/>
          </a:xfrm>
          <a:prstGeom prst="roundRect">
            <a:avLst/>
          </a:prstGeom>
          <a:solidFill>
            <a:srgbClr val="6A11CB"/>
          </a:solidFill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Consolas" panose="020B0609020204030204" pitchFamily="49" charset="0"/>
              </a:rPr>
              <a:t>    AI SUGGESTION OUTPUT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64C863-1C0D-7B41-2D57-9AAC8318E37F}"/>
              </a:ext>
            </a:extLst>
          </p:cNvPr>
          <p:cNvSpPr/>
          <p:nvPr/>
        </p:nvSpPr>
        <p:spPr>
          <a:xfrm>
            <a:off x="7206712" y="1528371"/>
            <a:ext cx="4060556" cy="3454334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35A540-130C-B137-FB06-D1DE5A9F8202}"/>
              </a:ext>
            </a:extLst>
          </p:cNvPr>
          <p:cNvSpPr txBox="1"/>
          <p:nvPr/>
        </p:nvSpPr>
        <p:spPr>
          <a:xfrm>
            <a:off x="7206712" y="1521814"/>
            <a:ext cx="4060556" cy="3454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C:\FinanceTracker&gt;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python main.py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===== FINANCE TRACKER WITH AI SUGGESTION =====</a:t>
            </a:r>
          </a:p>
          <a:p>
            <a:endParaRPr lang="en-US" sz="1100" dirty="0">
              <a:solidFill>
                <a:srgbClr val="FFC000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4. AI Financial Suggestion</a:t>
            </a: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Analysis your expenses...</a:t>
            </a: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accent1"/>
                </a:solidFill>
                <a:latin typeface="Consolas" panose="020B0609020204030204" pitchFamily="49" charset="0"/>
              </a:rPr>
              <a:t>AI Suggestion: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+----------------------------------------------+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You are spending the most on 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shopping (1200).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Try reducing unnecessary purchases.         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                            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Your </a:t>
            </a:r>
            <a:r>
              <a:rPr lang="en-US" sz="1100" dirty="0">
                <a:solidFill>
                  <a:srgbClr val="FFC000"/>
                </a:solidFill>
                <a:latin typeface="Consolas" panose="020B0609020204030204" pitchFamily="49" charset="0"/>
              </a:rPr>
              <a:t>Food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expenses are also high.           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Consider cooking at home to save more.      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                            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Keep tracking your expenses and             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 Stick to your budget!                        </a:t>
            </a:r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|</a:t>
            </a:r>
          </a:p>
          <a:p>
            <a:r>
              <a:rPr lang="en-US" sz="1100" dirty="0">
                <a:solidFill>
                  <a:srgbClr val="00B050"/>
                </a:solidFill>
                <a:latin typeface="Consolas" panose="020B0609020204030204" pitchFamily="49" charset="0"/>
              </a:rPr>
              <a:t>+----------------------------------------------+</a:t>
            </a:r>
          </a:p>
          <a:p>
            <a:endParaRPr lang="en-US" sz="11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100" dirty="0">
                <a:solidFill>
                  <a:schemeClr val="bg1"/>
                </a:solidFill>
                <a:latin typeface="Consolas" panose="020B0609020204030204" pitchFamily="49" charset="0"/>
              </a:rPr>
              <a:t>Press any key to continue...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8E0E97-6C1E-D91A-29CA-BFB5ABBB3D7C}"/>
              </a:ext>
            </a:extLst>
          </p:cNvPr>
          <p:cNvSpPr/>
          <p:nvPr/>
        </p:nvSpPr>
        <p:spPr>
          <a:xfrm>
            <a:off x="22584" y="5563759"/>
            <a:ext cx="6713127" cy="798107"/>
          </a:xfrm>
          <a:prstGeom prst="roundRect">
            <a:avLst/>
          </a:prstGeom>
          <a:effectLst>
            <a:glow rad="101600">
              <a:srgbClr val="8E2DE2">
                <a:alpha val="60000"/>
              </a:srgbClr>
            </a:glo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E5564248-7058-DAE2-7077-F374F79A6053}"/>
              </a:ext>
            </a:extLst>
          </p:cNvPr>
          <p:cNvSpPr/>
          <p:nvPr/>
        </p:nvSpPr>
        <p:spPr>
          <a:xfrm>
            <a:off x="107769" y="5697737"/>
            <a:ext cx="519193" cy="478095"/>
          </a:xfrm>
          <a:prstGeom prst="flowChartConnector">
            <a:avLst/>
          </a:prstGeom>
          <a:solidFill>
            <a:srgbClr val="6A11C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9669398-95D7-032C-22A6-1F902B71D0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33" y="5721270"/>
            <a:ext cx="422075" cy="422075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E63EBF0-E7C3-6812-DD1C-95A9622805D1}"/>
              </a:ext>
            </a:extLst>
          </p:cNvPr>
          <p:cNvSpPr txBox="1"/>
          <p:nvPr/>
        </p:nvSpPr>
        <p:spPr>
          <a:xfrm>
            <a:off x="690426" y="5671099"/>
            <a:ext cx="1115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Track</a:t>
            </a:r>
          </a:p>
          <a:p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Expenses</a:t>
            </a:r>
            <a:endParaRPr lang="en-IN" sz="1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69C22DA-3995-6A7B-4D36-0730537BAF74}"/>
              </a:ext>
            </a:extLst>
          </p:cNvPr>
          <p:cNvSpPr/>
          <p:nvPr/>
        </p:nvSpPr>
        <p:spPr>
          <a:xfrm>
            <a:off x="1764535" y="5909263"/>
            <a:ext cx="371959" cy="147234"/>
          </a:xfrm>
          <a:prstGeom prst="rightArrow">
            <a:avLst/>
          </a:prstGeom>
          <a:solidFill>
            <a:srgbClr val="8E2D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C0E2C13-2B8D-7B1D-EDA0-CDD6A72BB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124" y="5678226"/>
            <a:ext cx="602032" cy="56392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9A09B78-CCD4-07F2-8AC8-530CE950412F}"/>
              </a:ext>
            </a:extLst>
          </p:cNvPr>
          <p:cNvSpPr txBox="1"/>
          <p:nvPr/>
        </p:nvSpPr>
        <p:spPr>
          <a:xfrm>
            <a:off x="3107406" y="5654585"/>
            <a:ext cx="11158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Analysis </a:t>
            </a:r>
          </a:p>
          <a:p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Expenses</a:t>
            </a:r>
            <a:endParaRPr lang="en-IN" sz="1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8DC237A1-E615-F839-6ADD-F87C2C9DFF73}"/>
              </a:ext>
            </a:extLst>
          </p:cNvPr>
          <p:cNvSpPr/>
          <p:nvPr/>
        </p:nvSpPr>
        <p:spPr>
          <a:xfrm>
            <a:off x="4302773" y="5932307"/>
            <a:ext cx="371959" cy="139663"/>
          </a:xfrm>
          <a:prstGeom prst="rightArrow">
            <a:avLst/>
          </a:prstGeom>
          <a:solidFill>
            <a:srgbClr val="8E2D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F3EE0D6-8053-F062-8EA1-722BC1EB28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9822" y="5671099"/>
            <a:ext cx="556308" cy="533446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180F3A5-D791-DFB4-76B2-E54747B666F4}"/>
              </a:ext>
            </a:extLst>
          </p:cNvPr>
          <p:cNvSpPr txBox="1"/>
          <p:nvPr/>
        </p:nvSpPr>
        <p:spPr>
          <a:xfrm>
            <a:off x="5450566" y="5696889"/>
            <a:ext cx="12851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Get Ai </a:t>
            </a:r>
          </a:p>
          <a:p>
            <a:r>
              <a:rPr lang="en-US" sz="1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Suggestions</a:t>
            </a:r>
            <a:endParaRPr lang="en-IN" sz="1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230F122D-9643-7B52-A1F3-1129C865C36C}"/>
              </a:ext>
            </a:extLst>
          </p:cNvPr>
          <p:cNvSpPr/>
          <p:nvPr/>
        </p:nvSpPr>
        <p:spPr>
          <a:xfrm>
            <a:off x="7283939" y="1162405"/>
            <a:ext cx="390769" cy="308443"/>
          </a:xfrm>
          <a:prstGeom prst="flowChartConnector">
            <a:avLst/>
          </a:prstGeom>
          <a:solidFill>
            <a:srgbClr val="8E2DE2"/>
          </a:soli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8CDF02F-9B20-F2E6-E883-374CD91271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062" y="1167405"/>
            <a:ext cx="384646" cy="308443"/>
          </a:xfrm>
          <a:prstGeom prst="rect">
            <a:avLst/>
          </a:prstGeom>
        </p:spPr>
      </p:pic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76849DB-4A3A-7ADA-65B6-D40EA9F2C092}"/>
              </a:ext>
            </a:extLst>
          </p:cNvPr>
          <p:cNvSpPr/>
          <p:nvPr/>
        </p:nvSpPr>
        <p:spPr>
          <a:xfrm>
            <a:off x="7920107" y="5958499"/>
            <a:ext cx="2889407" cy="654525"/>
          </a:xfrm>
          <a:prstGeom prst="roundRect">
            <a:avLst/>
          </a:prstGeom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       AI + Analysis =</a:t>
            </a:r>
          </a:p>
          <a:p>
            <a:r>
              <a:rPr lang="en-US" sz="1200" dirty="0">
                <a:solidFill>
                  <a:schemeClr val="accent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        Smarter Financial Decision</a:t>
            </a:r>
            <a:endParaRPr lang="en-IN" sz="1200" dirty="0">
              <a:solidFill>
                <a:schemeClr val="accent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6B1261EF-2C2B-DDE8-25F0-1BE4ADE060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6812" y="5974089"/>
            <a:ext cx="411516" cy="56392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68861CB-3531-9C6B-CE60-CBDF89410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54" y="248356"/>
            <a:ext cx="444368" cy="444368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9899CC2-4884-256A-E0CC-036C97EABA69}"/>
              </a:ext>
            </a:extLst>
          </p:cNvPr>
          <p:cNvCxnSpPr>
            <a:cxnSpLocks/>
          </p:cNvCxnSpPr>
          <p:nvPr/>
        </p:nvCxnSpPr>
        <p:spPr>
          <a:xfrm>
            <a:off x="550554" y="820615"/>
            <a:ext cx="9328092" cy="0"/>
          </a:xfrm>
          <a:prstGeom prst="line">
            <a:avLst/>
          </a:prstGeom>
          <a:ln>
            <a:solidFill>
              <a:srgbClr val="C5D3F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497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7DC7D-81E0-6FAC-BF23-8D3295003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83" y="107470"/>
            <a:ext cx="4868671" cy="837184"/>
          </a:xfrm>
        </p:spPr>
        <p:txBody>
          <a:bodyPr>
            <a:normAutofit/>
          </a:bodyPr>
          <a:lstStyle/>
          <a:p>
            <a:r>
              <a:rPr lang="en-IN" sz="4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 </a:t>
            </a:r>
            <a:r>
              <a:rPr lang="en-IN" sz="4000" b="1" dirty="0">
                <a:solidFill>
                  <a:schemeClr val="bg1"/>
                </a:solidFill>
                <a:latin typeface="Montserrat Bold" panose="00000800000000000000" pitchFamily="2" charset="0"/>
                <a:cs typeface="Poppins" panose="00000500000000000000" pitchFamily="2" charset="0"/>
              </a:rPr>
              <a:t>BENEFITS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78CE48-D7EF-7A55-5FAE-046EAAF51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55" y="214489"/>
            <a:ext cx="537633" cy="5734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7CA12E7-2D02-666B-4542-AC32EC9FD735}"/>
              </a:ext>
            </a:extLst>
          </p:cNvPr>
          <p:cNvSpPr/>
          <p:nvPr/>
        </p:nvSpPr>
        <p:spPr>
          <a:xfrm>
            <a:off x="67457" y="1367480"/>
            <a:ext cx="4699416" cy="438000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🧾   Helps users track daily expenses </a:t>
            </a:r>
            <a:endParaRPr lang="en-IN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9293D6C-7797-25C0-EC71-C25FF37395DF}"/>
              </a:ext>
            </a:extLst>
          </p:cNvPr>
          <p:cNvSpPr/>
          <p:nvPr/>
        </p:nvSpPr>
        <p:spPr>
          <a:xfrm>
            <a:off x="67457" y="2152584"/>
            <a:ext cx="4699416" cy="438000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 📈</a:t>
            </a:r>
            <a:r>
              <a:rPr lang="en-IN" sz="2000" dirty="0">
                <a:latin typeface="Poppins" panose="00000500000000000000" pitchFamily="2" charset="0"/>
                <a:cs typeface="Poppins" panose="00000500000000000000" pitchFamily="2" charset="0"/>
              </a:rPr>
              <a:t>  </a:t>
            </a: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Improves financial awareness</a:t>
            </a:r>
            <a:endParaRPr lang="en-IN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36FEC19-8A2D-CF52-1362-A4839DC01F55}"/>
              </a:ext>
            </a:extLst>
          </p:cNvPr>
          <p:cNvSpPr/>
          <p:nvPr/>
        </p:nvSpPr>
        <p:spPr>
          <a:xfrm>
            <a:off x="67457" y="2937688"/>
            <a:ext cx="4699416" cy="499094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 🤖  Generates smart AI suggestions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7D73446-7218-500D-0BC0-48D7158AE9CB}"/>
              </a:ext>
            </a:extLst>
          </p:cNvPr>
          <p:cNvSpPr/>
          <p:nvPr/>
        </p:nvSpPr>
        <p:spPr>
          <a:xfrm>
            <a:off x="67457" y="3783886"/>
            <a:ext cx="4699416" cy="499094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 💾  Saves expense data automatically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C04E62-60A0-6C81-F500-3A0942C6605B}"/>
              </a:ext>
            </a:extLst>
          </p:cNvPr>
          <p:cNvSpPr/>
          <p:nvPr/>
        </p:nvSpPr>
        <p:spPr>
          <a:xfrm>
            <a:off x="67457" y="4630084"/>
            <a:ext cx="4699416" cy="435847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🖥   Easy to use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menu-driven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system</a:t>
            </a:r>
            <a:b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1C110E0-B2AA-49C9-0C9D-E47E29740513}"/>
              </a:ext>
            </a:extLst>
          </p:cNvPr>
          <p:cNvSpPr/>
          <p:nvPr/>
        </p:nvSpPr>
        <p:spPr>
          <a:xfrm>
            <a:off x="67458" y="5450067"/>
            <a:ext cx="4699415" cy="435847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 📊   Provides category-wise analysis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F07D3DF-A130-4BFB-8F8F-BA6F0319FF66}"/>
              </a:ext>
            </a:extLst>
          </p:cNvPr>
          <p:cNvSpPr/>
          <p:nvPr/>
        </p:nvSpPr>
        <p:spPr>
          <a:xfrm>
            <a:off x="3709850" y="6113417"/>
            <a:ext cx="7750629" cy="637113"/>
          </a:xfrm>
          <a:prstGeom prst="roundRect">
            <a:avLst/>
          </a:prstGeom>
          <a:solidFill>
            <a:srgbClr val="6A11CB">
              <a:alpha val="50196"/>
            </a:srgbClr>
          </a:solidFill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talic"/>
                <a:cs typeface="Poppins" panose="00000500000000000000" pitchFamily="2" charset="0"/>
              </a:rPr>
              <a:t>          “Smart expense tracking with AI-powered insights” </a:t>
            </a:r>
            <a:endParaRPr lang="en-IN" dirty="0">
              <a:latin typeface="Italic"/>
              <a:cs typeface="Poppins" panose="00000500000000000000" pitchFamily="2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934D029-16BB-8DCF-8481-69535FDF234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10093092" y="6111150"/>
            <a:ext cx="1367387" cy="6393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23E257-F5F1-D54D-8C0A-DD167504B2A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192" y="1448063"/>
            <a:ext cx="4574287" cy="42199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63500"/>
          </a:effec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E917C4-979B-2B55-DAB5-575F08E5A983}"/>
              </a:ext>
            </a:extLst>
          </p:cNvPr>
          <p:cNvCxnSpPr/>
          <p:nvPr/>
        </p:nvCxnSpPr>
        <p:spPr>
          <a:xfrm>
            <a:off x="283955" y="859692"/>
            <a:ext cx="3425895" cy="0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473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C2782B-F7EE-5B6A-FC18-B2E4C28A3BB3}"/>
              </a:ext>
            </a:extLst>
          </p:cNvPr>
          <p:cNvSpPr txBox="1"/>
          <p:nvPr/>
        </p:nvSpPr>
        <p:spPr>
          <a:xfrm>
            <a:off x="148492" y="55905"/>
            <a:ext cx="6242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C000"/>
                </a:solidFill>
                <a:latin typeface="Montserrat Bold" panose="00000800000000000000" pitchFamily="2" charset="0"/>
                <a:cs typeface="Poppins" panose="00000500000000000000" pitchFamily="2" charset="0"/>
              </a:rPr>
              <a:t>⚠</a:t>
            </a:r>
            <a:r>
              <a:rPr lang="en-IN" sz="3600" b="1" dirty="0">
                <a:solidFill>
                  <a:schemeClr val="bg1"/>
                </a:solidFill>
                <a:latin typeface="Montserrat Bold" panose="00000800000000000000" pitchFamily="2" charset="0"/>
                <a:cs typeface="Poppins" panose="00000500000000000000" pitchFamily="2" charset="0"/>
              </a:rPr>
              <a:t> CHALLENGES FACED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EF055C2-4106-C59A-A95F-C15C29EEF062}"/>
              </a:ext>
            </a:extLst>
          </p:cNvPr>
          <p:cNvSpPr/>
          <p:nvPr/>
        </p:nvSpPr>
        <p:spPr>
          <a:xfrm>
            <a:off x="292296" y="1131056"/>
            <a:ext cx="4744720" cy="646331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📂   File path and CSV loading issues</a:t>
            </a: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DF34CF-380F-1F20-448C-6117864848EB}"/>
              </a:ext>
            </a:extLst>
          </p:cNvPr>
          <p:cNvSpPr/>
          <p:nvPr/>
        </p:nvSpPr>
        <p:spPr>
          <a:xfrm>
            <a:off x="292296" y="1909956"/>
            <a:ext cx="4744720" cy="646331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💾   Handling save and load errors</a:t>
            </a:r>
            <a:b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7DBFC3-AB2A-97FB-5E73-895CDD80AF80}"/>
              </a:ext>
            </a:extLst>
          </p:cNvPr>
          <p:cNvSpPr/>
          <p:nvPr/>
        </p:nvSpPr>
        <p:spPr>
          <a:xfrm>
            <a:off x="292296" y="2767596"/>
            <a:ext cx="4744720" cy="646331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🐞   Debugging Python exceptions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135A97-5EBE-65D4-C354-8A175B7A0E69}"/>
              </a:ext>
            </a:extLst>
          </p:cNvPr>
          <p:cNvSpPr/>
          <p:nvPr/>
        </p:nvSpPr>
        <p:spPr>
          <a:xfrm>
            <a:off x="292296" y="3625237"/>
            <a:ext cx="4744720" cy="646331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🤖   Integrating Groq AI API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337C40-58B3-163F-058F-77B2266439BF}"/>
              </a:ext>
            </a:extLst>
          </p:cNvPr>
          <p:cNvSpPr/>
          <p:nvPr/>
        </p:nvSpPr>
        <p:spPr>
          <a:xfrm>
            <a:off x="292296" y="4529654"/>
            <a:ext cx="4744720" cy="646331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📦   Managing pandas installation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C8BAF1F-3220-9F97-5AE9-292597A8F63F}"/>
              </a:ext>
            </a:extLst>
          </p:cNvPr>
          <p:cNvSpPr/>
          <p:nvPr/>
        </p:nvSpPr>
        <p:spPr>
          <a:xfrm>
            <a:off x="292296" y="5403778"/>
            <a:ext cx="4744720" cy="646331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💬   Making the AI responses interactive</a:t>
            </a: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BFC75E-7D11-D2BE-1176-B92D8F64AD64}"/>
              </a:ext>
            </a:extLst>
          </p:cNvPr>
          <p:cNvSpPr/>
          <p:nvPr/>
        </p:nvSpPr>
        <p:spPr>
          <a:xfrm>
            <a:off x="4385993" y="6213231"/>
            <a:ext cx="6782192" cy="529022"/>
          </a:xfrm>
          <a:prstGeom prst="roundRect">
            <a:avLst/>
          </a:prstGeom>
          <a:solidFill>
            <a:srgbClr val="6A11CB">
              <a:alpha val="50196"/>
            </a:srgbClr>
          </a:solidFill>
          <a:effectLst>
            <a:glow rad="1397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Italic"/>
              </a:rPr>
              <a:t>🚀</a:t>
            </a:r>
            <a:r>
              <a:rPr lang="en-US" dirty="0">
                <a:latin typeface="Italic"/>
              </a:rPr>
              <a:t> “Every challenge improved the project and learning experience”.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B194B9-DE2A-A10E-8A29-D8AA58B2E34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4046" y="1356527"/>
            <a:ext cx="3800758" cy="4310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softEdge rad="63500"/>
          </a:effectLst>
          <a:scene3d>
            <a:camera prst="perspectiveAbove"/>
            <a:lightRig rig="threePt" dir="t"/>
          </a:scene3d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7B4EA3-4AA5-4563-8965-DEEFA417F9E3}"/>
              </a:ext>
            </a:extLst>
          </p:cNvPr>
          <p:cNvCxnSpPr/>
          <p:nvPr/>
        </p:nvCxnSpPr>
        <p:spPr>
          <a:xfrm>
            <a:off x="140677" y="703385"/>
            <a:ext cx="5658338" cy="0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757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55EE9C-3647-EC8F-9593-BDECF52D8B90}"/>
              </a:ext>
            </a:extLst>
          </p:cNvPr>
          <p:cNvSpPr txBox="1"/>
          <p:nvPr/>
        </p:nvSpPr>
        <p:spPr>
          <a:xfrm>
            <a:off x="320430" y="189914"/>
            <a:ext cx="77997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🚀</a:t>
            </a:r>
            <a:r>
              <a:rPr lang="en-IN" sz="3600" b="1" dirty="0">
                <a:solidFill>
                  <a:schemeClr val="bg1"/>
                </a:solidFill>
                <a:latin typeface="Montserrat Bold" panose="00000800000000000000" pitchFamily="2" charset="0"/>
              </a:rPr>
              <a:t> FUTURE ENHANCEMENTS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4EDBBE7-09BA-AE3C-1079-3A0F9FAB9907}"/>
              </a:ext>
            </a:extLst>
          </p:cNvPr>
          <p:cNvSpPr/>
          <p:nvPr/>
        </p:nvSpPr>
        <p:spPr>
          <a:xfrm>
            <a:off x="320430" y="1242646"/>
            <a:ext cx="4470400" cy="570523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600">
                <a:latin typeface="Poppins" panose="00000500000000000000" pitchFamily="2" charset="0"/>
                <a:cs typeface="Poppins" panose="00000500000000000000" pitchFamily="2" charset="0"/>
              </a:rPr>
              <a:t>📊 </a:t>
            </a: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Graphical dashboard using charts</a:t>
            </a:r>
            <a:b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7E0D860-10C7-7502-E7BA-BD831BA153C8}"/>
              </a:ext>
            </a:extLst>
          </p:cNvPr>
          <p:cNvSpPr/>
          <p:nvPr/>
        </p:nvSpPr>
        <p:spPr>
          <a:xfrm>
            <a:off x="320430" y="5246077"/>
            <a:ext cx="4470400" cy="570523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☁  </a:t>
            </a: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Cloud database connectivity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F75C7F8-4400-75D7-5138-4961A7897D95}"/>
              </a:ext>
            </a:extLst>
          </p:cNvPr>
          <p:cNvSpPr/>
          <p:nvPr/>
        </p:nvSpPr>
        <p:spPr>
          <a:xfrm>
            <a:off x="320430" y="2028092"/>
            <a:ext cx="4470400" cy="570523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🔐  User login and authentication system</a:t>
            </a: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DA7B17A-72CD-28FE-798F-6C92AEB66762}"/>
              </a:ext>
            </a:extLst>
          </p:cNvPr>
          <p:cNvSpPr/>
          <p:nvPr/>
        </p:nvSpPr>
        <p:spPr>
          <a:xfrm>
            <a:off x="320430" y="2794000"/>
            <a:ext cx="4470400" cy="570523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🎤  Voice-enabled AI assistant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283387-594C-681C-ACD6-85C5DFD9329F}"/>
              </a:ext>
            </a:extLst>
          </p:cNvPr>
          <p:cNvSpPr/>
          <p:nvPr/>
        </p:nvSpPr>
        <p:spPr>
          <a:xfrm>
            <a:off x="320430" y="3548185"/>
            <a:ext cx="4470400" cy="570523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🧠  Monthly budget prediction</a:t>
            </a:r>
            <a:b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2EB592-8061-4958-EF2B-CAF0AFAFD1A4}"/>
              </a:ext>
            </a:extLst>
          </p:cNvPr>
          <p:cNvSpPr/>
          <p:nvPr/>
        </p:nvSpPr>
        <p:spPr>
          <a:xfrm>
            <a:off x="320430" y="4302370"/>
            <a:ext cx="4470400" cy="570523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📱  Mobile application integration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A2EDD9-30D0-F32F-0043-B3E830967672}"/>
              </a:ext>
            </a:extLst>
          </p:cNvPr>
          <p:cNvSpPr/>
          <p:nvPr/>
        </p:nvSpPr>
        <p:spPr>
          <a:xfrm>
            <a:off x="4087446" y="6189785"/>
            <a:ext cx="7158892" cy="570523"/>
          </a:xfrm>
          <a:prstGeom prst="roundRect">
            <a:avLst/>
          </a:prstGeom>
          <a:solidFill>
            <a:srgbClr val="6A11CB">
              <a:alpha val="50196"/>
            </a:srgbClr>
          </a:solidFill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Italic"/>
              </a:rPr>
              <a:t>✨ </a:t>
            </a:r>
            <a:r>
              <a:rPr lang="en-US" dirty="0">
                <a:latin typeface="Italic"/>
              </a:rPr>
              <a:t>“The project can be expanded with advanced AI and cloud features.”</a:t>
            </a:r>
            <a:endParaRPr lang="en-IN" sz="2400" dirty="0">
              <a:latin typeface="Italic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D12ABB-48A8-CCF8-C2E1-A40F8E1963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1172" y="1174652"/>
            <a:ext cx="3343193" cy="445883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bliqueTopRight"/>
            <a:lightRig rig="threePt" dir="t"/>
          </a:scene3d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AEE583-3975-8B52-E3EB-2D3D04079C32}"/>
              </a:ext>
            </a:extLst>
          </p:cNvPr>
          <p:cNvCxnSpPr/>
          <p:nvPr/>
        </p:nvCxnSpPr>
        <p:spPr>
          <a:xfrm>
            <a:off x="382954" y="898769"/>
            <a:ext cx="7018218" cy="0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607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BB6A2B-5BF5-C3D3-40BD-21111F0EC454}"/>
              </a:ext>
            </a:extLst>
          </p:cNvPr>
          <p:cNvSpPr txBox="1"/>
          <p:nvPr/>
        </p:nvSpPr>
        <p:spPr>
          <a:xfrm>
            <a:off x="289168" y="103321"/>
            <a:ext cx="4775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🏁</a:t>
            </a:r>
            <a:r>
              <a:rPr lang="en-IN" sz="3600" dirty="0">
                <a:solidFill>
                  <a:schemeClr val="bg1"/>
                </a:solidFill>
                <a:latin typeface="Montserrat Bold" panose="00000800000000000000" pitchFamily="2" charset="0"/>
              </a:rPr>
              <a:t>CONCLUSION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44D84BE-3B65-C836-A3A6-67E38810DC8D}"/>
              </a:ext>
            </a:extLst>
          </p:cNvPr>
          <p:cNvSpPr/>
          <p:nvPr/>
        </p:nvSpPr>
        <p:spPr>
          <a:xfrm>
            <a:off x="289169" y="1562292"/>
            <a:ext cx="6557108" cy="453293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/>
              <a:t>🤖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    Successfully developed an AI-powered Expense Tracker</a:t>
            </a: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E55C20B-BA19-6E0E-028B-39312D6EB730}"/>
              </a:ext>
            </a:extLst>
          </p:cNvPr>
          <p:cNvSpPr/>
          <p:nvPr/>
        </p:nvSpPr>
        <p:spPr>
          <a:xfrm>
            <a:off x="289169" y="2291469"/>
            <a:ext cx="6557108" cy="453293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/>
              <a:t>📂      </a:t>
            </a: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Implemented file handling and data analysis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A3A3AA1-A919-77FF-B3FF-93FAE21842C6}"/>
              </a:ext>
            </a:extLst>
          </p:cNvPr>
          <p:cNvSpPr/>
          <p:nvPr/>
        </p:nvSpPr>
        <p:spPr>
          <a:xfrm>
            <a:off x="289169" y="3020646"/>
            <a:ext cx="6557108" cy="453293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IN" sz="1600" dirty="0"/>
              <a:t>💡      </a:t>
            </a:r>
            <a: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  <a:t>Integrated Groq AI for smart financial suggestions</a:t>
            </a:r>
            <a:br>
              <a:rPr lang="en-IN" sz="1600" dirty="0">
                <a:latin typeface="Poppins" panose="00000500000000000000" pitchFamily="2" charset="0"/>
                <a:cs typeface="Poppins" panose="00000500000000000000" pitchFamily="2" charset="0"/>
              </a:rPr>
            </a:b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87ED2D-8290-D566-E8B9-E41530FB19B9}"/>
              </a:ext>
            </a:extLst>
          </p:cNvPr>
          <p:cNvSpPr/>
          <p:nvPr/>
        </p:nvSpPr>
        <p:spPr>
          <a:xfrm>
            <a:off x="289169" y="3725592"/>
            <a:ext cx="6557108" cy="453293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/>
              <a:t>📊     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Used pandas for category-wise expense reporting</a:t>
            </a: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F293935-3D3C-88BF-E65B-E744F718D633}"/>
              </a:ext>
            </a:extLst>
          </p:cNvPr>
          <p:cNvSpPr/>
          <p:nvPr/>
        </p:nvSpPr>
        <p:spPr>
          <a:xfrm>
            <a:off x="289169" y="4454769"/>
            <a:ext cx="6557108" cy="453293"/>
          </a:xfrm>
          <a:prstGeom prst="roundRect">
            <a:avLst/>
          </a:prstGeom>
          <a:solidFill>
            <a:srgbClr val="A864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/>
              <a:t>🖥       </a:t>
            </a:r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Built an interactive and user-friendly system</a:t>
            </a:r>
            <a:endParaRPr lang="en-IN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27D177-5F7F-FF50-94FF-53C206D4D0CF}"/>
              </a:ext>
            </a:extLst>
          </p:cNvPr>
          <p:cNvSpPr/>
          <p:nvPr/>
        </p:nvSpPr>
        <p:spPr>
          <a:xfrm>
            <a:off x="3926048" y="6065240"/>
            <a:ext cx="8086987" cy="578841"/>
          </a:xfrm>
          <a:prstGeom prst="roundRect">
            <a:avLst/>
          </a:prstGeom>
          <a:solidFill>
            <a:srgbClr val="6A11CB">
              <a:alpha val="50196"/>
            </a:srgbClr>
          </a:solidFill>
          <a:effectLst>
            <a:glow rad="1397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latin typeface="Italic"/>
              </a:rPr>
              <a:t>🧠  “Combining Python, Data Analysis, and AI for smarter financial management.”</a:t>
            </a:r>
            <a:endParaRPr lang="en-IN" dirty="0">
              <a:latin typeface="Italic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140D9F-001D-139C-7F24-472E9B97CA5D}"/>
              </a:ext>
            </a:extLst>
          </p:cNvPr>
          <p:cNvCxnSpPr/>
          <p:nvPr/>
        </p:nvCxnSpPr>
        <p:spPr>
          <a:xfrm>
            <a:off x="406398" y="749652"/>
            <a:ext cx="4071817" cy="0"/>
          </a:xfrm>
          <a:prstGeom prst="line">
            <a:avLst/>
          </a:prstGeom>
          <a:ln>
            <a:solidFill>
              <a:srgbClr val="C5D3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185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rgbClr val="6D28D9"/>
            </a:gs>
            <a:gs pos="100000">
              <a:srgbClr val="2563EB"/>
            </a:gs>
            <a:gs pos="50000">
              <a:srgbClr val="9333EA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33347D-A4C5-33AE-FFEE-AF6B9FBA9EAD}"/>
              </a:ext>
            </a:extLst>
          </p:cNvPr>
          <p:cNvSpPr txBox="1"/>
          <p:nvPr/>
        </p:nvSpPr>
        <p:spPr>
          <a:xfrm>
            <a:off x="1595120" y="2062480"/>
            <a:ext cx="477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  <a:latin typeface="Montserrat Bold" panose="00000800000000000000" pitchFamily="2" charset="0"/>
              </a:rPr>
              <a:t>THANK YOU !</a:t>
            </a:r>
          </a:p>
          <a:p>
            <a:r>
              <a:rPr lang="en-IN" sz="4800" dirty="0">
                <a:solidFill>
                  <a:schemeClr val="bg1"/>
                </a:solidFill>
                <a:latin typeface="Montserrat Bold" panose="00000800000000000000" pitchFamily="2" charset="0"/>
              </a:rPr>
              <a:t> </a:t>
            </a:r>
            <a:r>
              <a:rPr lang="en-IN" sz="3200" dirty="0">
                <a:solidFill>
                  <a:schemeClr val="bg1"/>
                </a:solidFill>
                <a:latin typeface="Montserrat Bold" panose="00000800000000000000" pitchFamily="2" charset="0"/>
              </a:rPr>
              <a:t>Any Question ?</a:t>
            </a:r>
            <a:endParaRPr lang="en-IN" sz="4800" dirty="0">
              <a:solidFill>
                <a:schemeClr val="bg1"/>
              </a:solidFill>
              <a:latin typeface="Montserrat Bold" panose="00000800000000000000" pitchFamily="2" charset="0"/>
            </a:endParaRPr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6BA7610C-4131-7456-4A70-E56B477228D1}"/>
              </a:ext>
            </a:extLst>
          </p:cNvPr>
          <p:cNvCxnSpPr/>
          <p:nvPr/>
        </p:nvCxnSpPr>
        <p:spPr>
          <a:xfrm flipV="1">
            <a:off x="322217" y="3544389"/>
            <a:ext cx="7924800" cy="2821577"/>
          </a:xfrm>
          <a:prstGeom prst="curvedConnector3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753E23FB-6D7A-1DD2-27AE-3A77F83D017E}"/>
              </a:ext>
            </a:extLst>
          </p:cNvPr>
          <p:cNvCxnSpPr>
            <a:cxnSpLocks/>
          </p:cNvCxnSpPr>
          <p:nvPr/>
        </p:nvCxnSpPr>
        <p:spPr>
          <a:xfrm flipV="1">
            <a:off x="0" y="4119154"/>
            <a:ext cx="11869783" cy="2647406"/>
          </a:xfrm>
          <a:prstGeom prst="curvedConnector3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02EE04F7-7E74-3192-3627-0FA925114423}"/>
              </a:ext>
            </a:extLst>
          </p:cNvPr>
          <p:cNvCxnSpPr>
            <a:cxnSpLocks/>
          </p:cNvCxnSpPr>
          <p:nvPr/>
        </p:nvCxnSpPr>
        <p:spPr>
          <a:xfrm flipV="1">
            <a:off x="-1" y="3143795"/>
            <a:ext cx="11869783" cy="2647406"/>
          </a:xfrm>
          <a:prstGeom prst="curvedConnector3">
            <a:avLst/>
          </a:prstGeom>
          <a:effectLst>
            <a:glow rad="101600">
              <a:schemeClr val="accent3">
                <a:satMod val="175000"/>
                <a:alpha val="40000"/>
              </a:schemeClr>
            </a:glow>
            <a:innerShdw blurRad="114300">
              <a:prstClr val="black"/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60F013FB-DC86-16F8-7B59-0B4070F550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715" y="571500"/>
            <a:ext cx="4354285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372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1673</TotalTime>
  <Words>1337</Words>
  <Application>Microsoft Office PowerPoint</Application>
  <PresentationFormat>Widescreen</PresentationFormat>
  <Paragraphs>321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Bold</vt:lpstr>
      <vt:lpstr>Calibri</vt:lpstr>
      <vt:lpstr>Consolas</vt:lpstr>
      <vt:lpstr>Courier New</vt:lpstr>
      <vt:lpstr>Italic</vt:lpstr>
      <vt:lpstr>Montserrat Bold</vt:lpstr>
      <vt:lpstr>Poppins</vt:lpstr>
      <vt:lpstr>Segoe UI </vt:lpstr>
      <vt:lpstr>Tw Cen MT</vt:lpstr>
      <vt:lpstr>Tw Cen MT Condensed</vt:lpstr>
      <vt:lpstr>Wingdings 3</vt:lpstr>
      <vt:lpstr>Integral</vt:lpstr>
      <vt:lpstr>PowerPoint Presentation</vt:lpstr>
      <vt:lpstr>PROBLEM STATEMENT</vt:lpstr>
      <vt:lpstr>OBJECTIVES</vt:lpstr>
      <vt:lpstr>FEATURES</vt:lpstr>
      <vt:lpstr>TECHNOLOGIES USED</vt:lpstr>
      <vt:lpstr>PROJECT WORKFLOW</vt:lpstr>
      <vt:lpstr>   PROJECT STRUCTURE (FILES)</vt:lpstr>
      <vt:lpstr>    EXPENSE.PY </vt:lpstr>
      <vt:lpstr> 📁FILE_HANDLER.PY</vt:lpstr>
      <vt:lpstr>📊ANALYSIS.PY</vt:lpstr>
      <vt:lpstr>    🤖AI Helper.PY       </vt:lpstr>
      <vt:lpstr>Expense MANAGEMENT OUTPUT</vt:lpstr>
      <vt:lpstr>      ANALYSIS &amp; Suggestion output</vt:lpstr>
      <vt:lpstr>      BENEFITS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Solanki</dc:creator>
  <cp:lastModifiedBy>Aman Solanki</cp:lastModifiedBy>
  <cp:revision>1</cp:revision>
  <dcterms:created xsi:type="dcterms:W3CDTF">2026-05-06T05:12:27Z</dcterms:created>
  <dcterms:modified xsi:type="dcterms:W3CDTF">2026-06-13T14:39:36Z</dcterms:modified>
</cp:coreProperties>
</file>